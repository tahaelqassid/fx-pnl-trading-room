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jury members, Prof. Zinedine, and Mr. Gourroum. I am Mohamed Taha El Qassid, 4th-year Data Engineering student at UIR. Today I present my final year project carried out at DXC Technology: a data engineering platform for FX P&amp;L calculation, Bank Al-Maghrib compliance, and Front-to-Back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trading room, millions of Dirhams are exchanged daily for major Moroccan corporations. Bank Al-Maghrib mandates daily revaluation into MAD at 15:30. Legacy Excel models suffer from rate slippage, nominal breaks, and lack of audit trails. Our platform automates the entire 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Medallion data engineering architecture: Bronze for raw ingestion into PostgreSQL, Silver for dbt SQL transformations including cross-rate conversion, and Gold for the Python calculation engine. The right panel shows our industrial tech stack.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exact mathematical reproduction of the PFE brief benchmark: four trades across USD, EUR, and EUR/USD cross. Total portfolio MTM is exactly +79,460 MAD, decomposed into +20,000 MAD Realized cash and +59,460 MAD Latent paper gain. Rule BR3 holds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FIFO and CMP on the reference example: FIFO yields +22,000 MAD while CMP yields +18,000 MAD. Importantly, we detected a clerical typo in the source specification which wrote 21,500 MAD (19,500 + 2,000). Our recalculated figure proves 20,000 + 2,000 = 22,000 MAD, documented in Section 8.2.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Front-to-Back Reconciliation engine (OS6) compares Front-Office tickets with Back-Office SWIFT MT300 records. We simulate 4 authentic banking breaks: rate slippage, nominal break from credit cap, unconfirmed SWIFT trade, and orphan settlement, exporting full audit reports to Excel.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workflow is fully automated with Apache Airflow. Triggered daily at 15:35, the DAG begins with a BAM fixing sensor, ingests trades, runs dbt SQL models, executes integrity tests as circuit-breakers, and finishes with Python FIFO P&amp;L calculation and Excel generation.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software quality is proven by 10 automated unit tests passing in 0.51s, paired with dbt singular tests that enforce our business rules (BR1 to BR4). The physical CHECK constraint in PostgreSQL guarantees that Total = Realized + Unrealized at all times.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Streamlit dashboard serves as a functional trading terminal: live BAM fixings strip, transparent mathematical formulas on every trade, pre-trade deal simulator, and Front-to-Back dispute hub with 1-click Excel export.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bridges financial engineering with modern data engineering. All evaluation criteria have been met and validated. I thank Prof. Zinedine and Mr. Gourroum for their guidance, and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defRPr sz="1100" b="1">
                <a:solidFill>
                  <a:srgbClr val="38BDF8"/>
                </a:solidFill>
                <a:latin typeface="Arial"/>
              </a:defRPr>
            </a:pPr>
            <a:r>
              <a:t>UIR · School of Data Science &amp; Digital Engineering · Data Engineering (4th Year) · 2025–2026</a:t>
            </a:r>
          </a:p>
        </p:txBody>
      </p:sp>
      <p:sp>
        <p:nvSpPr>
          <p:cNvPr id="3" name="Rounded Rectangle 2"/>
          <p:cNvSpPr/>
          <p:nvPr/>
        </p:nvSpPr>
        <p:spPr>
          <a:xfrm>
            <a:off x="731520" y="1005840"/>
            <a:ext cx="7772400" cy="20116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143000"/>
            <a:ext cx="7315200" cy="1737360"/>
          </a:xfrm>
          <a:prstGeom prst="rect">
            <a:avLst/>
          </a:prstGeom>
          <a:noFill/>
        </p:spPr>
        <p:txBody>
          <a:bodyPr wrap="square">
            <a:spAutoFit/>
          </a:bodyPr>
          <a:lstStyle/>
          <a:p>
            <a:pPr>
              <a:defRPr sz="3200" b="1">
                <a:solidFill>
                  <a:srgbClr val="F8FAFC"/>
                </a:solidFill>
                <a:latin typeface="Arial"/>
              </a:defRPr>
            </a:pPr>
            <a:r>
              <a:t>FX Trading Room P&amp;L Platform</a:t>
            </a:r>
          </a:p>
          <a:p>
            <a:pPr>
              <a:spcBef>
                <a:spcPts val="800"/>
              </a:spcBef>
              <a:defRPr sz="1300">
                <a:solidFill>
                  <a:srgbClr val="8892B0"/>
                </a:solidFill>
                <a:latin typeface="Arial"/>
              </a:defRPr>
            </a:pPr>
            <a:r>
              <a:t>Data Engineering Platform for Foreign Exchange Profit &amp; Loss Monitoring, Bank Al-Maghrib Compliance &amp; Front-to-Back Reconciliation (Accounting Currency: MAD)</a:t>
            </a:r>
          </a:p>
        </p:txBody>
      </p:sp>
      <p:sp>
        <p:nvSpPr>
          <p:cNvPr id="5" name="Rounded Rectangle 4"/>
          <p:cNvSpPr/>
          <p:nvPr/>
        </p:nvSpPr>
        <p:spPr>
          <a:xfrm>
            <a:off x="8778240" y="548640"/>
            <a:ext cx="2651760" cy="246888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Drag &amp; Drop UIR / DXC Logos Here ]</a:t>
            </a:r>
          </a:p>
        </p:txBody>
      </p:sp>
      <p:sp>
        <p:nvSpPr>
          <p:cNvPr id="6" name="Rounded Rectangle 5"/>
          <p:cNvSpPr/>
          <p:nvPr/>
        </p:nvSpPr>
        <p:spPr>
          <a:xfrm>
            <a:off x="731520" y="3246120"/>
            <a:ext cx="2514600" cy="20116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2148840" cy="1737360"/>
          </a:xfrm>
          <a:prstGeom prst="rect">
            <a:avLst/>
          </a:prstGeom>
          <a:noFill/>
        </p:spPr>
        <p:txBody>
          <a:bodyPr wrap="square">
            <a:spAutoFit/>
          </a:bodyPr>
          <a:lstStyle/>
          <a:p>
            <a:pPr>
              <a:defRPr sz="1200" b="1">
                <a:solidFill>
                  <a:srgbClr val="38BDF8"/>
                </a:solidFill>
                <a:latin typeface="Arial"/>
              </a:defRPr>
            </a:pPr>
            <a:r>
              <a:t>🏦  Accounting Currency</a:t>
            </a:r>
          </a:p>
          <a:p>
            <a:pPr>
              <a:spcBef>
                <a:spcPts val="800"/>
              </a:spcBef>
              <a:defRPr sz="1050">
                <a:solidFill>
                  <a:srgbClr val="CCD6F6"/>
                </a:solidFill>
                <a:latin typeface="Arial"/>
              </a:defRPr>
            </a:pPr>
            <a:r>
              <a:t>MAD (Moroccan Dirham)</a:t>
            </a:r>
            <a:br/>
            <a:r>
              <a:t>Bank Al-Maghrib Fixing</a:t>
            </a:r>
          </a:p>
        </p:txBody>
      </p:sp>
      <p:sp>
        <p:nvSpPr>
          <p:cNvPr id="8" name="Rounded Rectangle 7"/>
          <p:cNvSpPr/>
          <p:nvPr/>
        </p:nvSpPr>
        <p:spPr>
          <a:xfrm>
            <a:off x="3429000" y="3246120"/>
            <a:ext cx="2514600" cy="20116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3383280"/>
            <a:ext cx="2148840" cy="1737360"/>
          </a:xfrm>
          <a:prstGeom prst="rect">
            <a:avLst/>
          </a:prstGeom>
          <a:noFill/>
        </p:spPr>
        <p:txBody>
          <a:bodyPr wrap="square">
            <a:spAutoFit/>
          </a:bodyPr>
          <a:lstStyle/>
          <a:p>
            <a:pPr>
              <a:defRPr sz="1200" b="1">
                <a:solidFill>
                  <a:srgbClr val="10B981"/>
                </a:solidFill>
                <a:latin typeface="Arial"/>
              </a:defRPr>
            </a:pPr>
            <a:r>
              <a:t>⚙️  Data Pipeline</a:t>
            </a:r>
          </a:p>
          <a:p>
            <a:pPr>
              <a:spcBef>
                <a:spcPts val="800"/>
              </a:spcBef>
              <a:defRPr sz="1050">
                <a:solidFill>
                  <a:srgbClr val="CCD6F6"/>
                </a:solidFill>
                <a:latin typeface="Arial"/>
              </a:defRPr>
            </a:pPr>
            <a:r>
              <a:t>PostgreSQL · dbt Core</a:t>
            </a:r>
            <a:br/>
            <a:r>
              <a:t>Apache Airflow (15:35 EOD)</a:t>
            </a:r>
          </a:p>
        </p:txBody>
      </p:sp>
      <p:sp>
        <p:nvSpPr>
          <p:cNvPr id="10" name="Rounded Rectangle 9"/>
          <p:cNvSpPr/>
          <p:nvPr/>
        </p:nvSpPr>
        <p:spPr>
          <a:xfrm>
            <a:off x="6126480" y="3246120"/>
            <a:ext cx="2514600" cy="20116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383280"/>
            <a:ext cx="2148840" cy="1737360"/>
          </a:xfrm>
          <a:prstGeom prst="rect">
            <a:avLst/>
          </a:prstGeom>
          <a:noFill/>
        </p:spPr>
        <p:txBody>
          <a:bodyPr wrap="square">
            <a:spAutoFit/>
          </a:bodyPr>
          <a:lstStyle/>
          <a:p>
            <a:pPr>
              <a:defRPr sz="1200" b="1">
                <a:solidFill>
                  <a:srgbClr val="F59E0B"/>
                </a:solidFill>
                <a:latin typeface="Arial"/>
              </a:defRPr>
            </a:pPr>
            <a:r>
              <a:t>📊  Trading Engine</a:t>
            </a:r>
          </a:p>
          <a:p>
            <a:pPr>
              <a:spcBef>
                <a:spcPts val="800"/>
              </a:spcBef>
              <a:defRPr sz="1050">
                <a:solidFill>
                  <a:srgbClr val="CCD6F6"/>
                </a:solidFill>
                <a:latin typeface="Arial"/>
              </a:defRPr>
            </a:pPr>
            <a:r>
              <a:t>Python 3.11 · FIFO &amp; CMP</a:t>
            </a:r>
            <a:br/>
            <a:r>
              <a:t>Multi-Desk Position Keeping</a:t>
            </a:r>
          </a:p>
        </p:txBody>
      </p:sp>
      <p:sp>
        <p:nvSpPr>
          <p:cNvPr id="12" name="Rounded Rectangle 11"/>
          <p:cNvSpPr/>
          <p:nvPr/>
        </p:nvSpPr>
        <p:spPr>
          <a:xfrm>
            <a:off x="8823960" y="3246120"/>
            <a:ext cx="2514600" cy="20116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3383280"/>
            <a:ext cx="2148840" cy="1737360"/>
          </a:xfrm>
          <a:prstGeom prst="rect">
            <a:avLst/>
          </a:prstGeom>
          <a:noFill/>
        </p:spPr>
        <p:txBody>
          <a:bodyPr wrap="square">
            <a:spAutoFit/>
          </a:bodyPr>
          <a:lstStyle/>
          <a:p>
            <a:pPr>
              <a:defRPr sz="1200" b="1">
                <a:solidFill>
                  <a:srgbClr val="38BDF8"/>
                </a:solidFill>
                <a:latin typeface="Arial"/>
              </a:defRPr>
            </a:pPr>
            <a:r>
              <a:t>🛡️  Reconciliation (OS6)</a:t>
            </a:r>
          </a:p>
          <a:p>
            <a:pPr>
              <a:spcBef>
                <a:spcPts val="800"/>
              </a:spcBef>
              <a:defRPr sz="1050">
                <a:solidFill>
                  <a:srgbClr val="CCD6F6"/>
                </a:solidFill>
                <a:latin typeface="Arial"/>
              </a:defRPr>
            </a:pPr>
            <a:r>
              <a:t>Front-to-Back Matching</a:t>
            </a:r>
            <a:br/>
            <a:r>
              <a:t>SWIFT MT300 Dispute Hub</a:t>
            </a:r>
          </a:p>
        </p:txBody>
      </p:sp>
      <p:sp>
        <p:nvSpPr>
          <p:cNvPr id="14" name="Rounded Rectangle 13"/>
          <p:cNvSpPr/>
          <p:nvPr/>
        </p:nvSpPr>
        <p:spPr>
          <a:xfrm>
            <a:off x="731520" y="5486400"/>
            <a:ext cx="10728655" cy="822960"/>
          </a:xfrm>
          <a:prstGeom prst="roundRect">
            <a:avLst/>
          </a:prstGeom>
          <a:solidFill>
            <a:srgbClr val="0F1E38"/>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577840"/>
            <a:ext cx="10149840" cy="640080"/>
          </a:xfrm>
          <a:prstGeom prst="rect">
            <a:avLst/>
          </a:prstGeom>
          <a:noFill/>
        </p:spPr>
        <p:txBody>
          <a:bodyPr wrap="square">
            <a:spAutoFit/>
          </a:bodyPr>
          <a:lstStyle/>
          <a:p>
            <a:pPr>
              <a:defRPr sz="1100" b="1">
                <a:solidFill>
                  <a:srgbClr val="F8FAFC"/>
                </a:solidFill>
                <a:latin typeface="Arial"/>
              </a:defRPr>
            </a:pPr>
            <a:r>
              <a:t>Author: Mohamed Taha El Qassid (Data Engineering, 4th Year)   |   Host Company: DXC Technology Morocco</a:t>
            </a:r>
          </a:p>
          <a:p>
            <a:pPr>
              <a:spcBef>
                <a:spcPts val="200"/>
              </a:spcBef>
              <a:defRPr sz="1000">
                <a:solidFill>
                  <a:srgbClr val="8892B0"/>
                </a:solidFill>
                <a:latin typeface="Arial"/>
              </a:defRPr>
            </a:pPr>
            <a:r>
              <a:t>Supervisors: Prof. Fayçal Zinedine (UIR) · Samir Gourroum (DXC Technology) · PFA S8 Final Defense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F8FAFC"/>
                </a:solidFill>
                <a:latin typeface="Arial"/>
              </a:defRPr>
            </a:pPr>
            <a:r>
              <a:t>01  /  The Problem</a:t>
            </a:r>
          </a:p>
        </p:txBody>
      </p:sp>
      <p:sp>
        <p:nvSpPr>
          <p:cNvPr id="3" name="Rounded Rectangle 2"/>
          <p:cNvSpPr/>
          <p:nvPr/>
        </p:nvSpPr>
        <p:spPr>
          <a:xfrm>
            <a:off x="960120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UIR ]</a:t>
            </a:r>
          </a:p>
        </p:txBody>
      </p:sp>
      <p:sp>
        <p:nvSpPr>
          <p:cNvPr id="4" name="Rounded Rectangle 3"/>
          <p:cNvSpPr/>
          <p:nvPr/>
        </p:nvSpPr>
        <p:spPr>
          <a:xfrm>
            <a:off x="1060704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DXC ]</a:t>
            </a:r>
          </a:p>
        </p:txBody>
      </p:sp>
      <p:sp>
        <p:nvSpPr>
          <p:cNvPr id="5" name="Rounded Rectangle 4"/>
          <p:cNvSpPr/>
          <p:nvPr/>
        </p:nvSpPr>
        <p:spPr>
          <a:xfrm>
            <a:off x="731520" y="1371600"/>
            <a:ext cx="5257800" cy="18288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36192"/>
            <a:ext cx="4709160" cy="1508760"/>
          </a:xfrm>
          <a:prstGeom prst="rect">
            <a:avLst/>
          </a:prstGeom>
          <a:noFill/>
        </p:spPr>
        <p:txBody>
          <a:bodyPr wrap="square">
            <a:spAutoFit/>
          </a:bodyPr>
          <a:lstStyle/>
          <a:p>
            <a:pPr>
              <a:defRPr sz="2800" b="1">
                <a:solidFill>
                  <a:srgbClr val="38BDF8"/>
                </a:solidFill>
                <a:latin typeface="Arial"/>
              </a:defRPr>
            </a:pPr>
            <a:r>
              <a:t>100s of Millions</a:t>
            </a:r>
          </a:p>
          <a:p>
            <a:pPr>
              <a:spcBef>
                <a:spcPts val="200"/>
              </a:spcBef>
              <a:defRPr sz="1200" b="1">
                <a:solidFill>
                  <a:srgbClr val="F8FAFC"/>
                </a:solidFill>
                <a:latin typeface="Arial"/>
              </a:defRPr>
            </a:pPr>
            <a:r>
              <a:t>MAD Daily Traded Volume</a:t>
            </a:r>
          </a:p>
          <a:p>
            <a:pPr>
              <a:spcBef>
                <a:spcPts val="400"/>
              </a:spcBef>
              <a:defRPr sz="1000">
                <a:solidFill>
                  <a:srgbClr val="8892B0"/>
                </a:solidFill>
                <a:latin typeface="Arial"/>
              </a:defRPr>
            </a:pPr>
            <a:r>
              <a:t>Corporate flows from OCP Group (phosphate export), Renault Tanger, and Afriquia (crude oil imports).</a:t>
            </a:r>
          </a:p>
        </p:txBody>
      </p:sp>
      <p:sp>
        <p:nvSpPr>
          <p:cNvPr id="7" name="Rounded Rectangle 6"/>
          <p:cNvSpPr/>
          <p:nvPr/>
        </p:nvSpPr>
        <p:spPr>
          <a:xfrm>
            <a:off x="6172200" y="1371600"/>
            <a:ext cx="5257800" cy="18288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36192"/>
            <a:ext cx="4709160" cy="1508760"/>
          </a:xfrm>
          <a:prstGeom prst="rect">
            <a:avLst/>
          </a:prstGeom>
          <a:noFill/>
        </p:spPr>
        <p:txBody>
          <a:bodyPr wrap="square">
            <a:spAutoFit/>
          </a:bodyPr>
          <a:lstStyle/>
          <a:p>
            <a:pPr>
              <a:defRPr sz="2800" b="1">
                <a:solidFill>
                  <a:srgbClr val="F59E0B"/>
                </a:solidFill>
                <a:latin typeface="Arial"/>
              </a:defRPr>
            </a:pPr>
            <a:r>
              <a:t>15:30 EOD</a:t>
            </a:r>
          </a:p>
          <a:p>
            <a:pPr>
              <a:spcBef>
                <a:spcPts val="200"/>
              </a:spcBef>
              <a:defRPr sz="1200" b="1">
                <a:solidFill>
                  <a:srgbClr val="F8FAFC"/>
                </a:solidFill>
                <a:latin typeface="Arial"/>
              </a:defRPr>
            </a:pPr>
            <a:r>
              <a:t>BAM Mandatory Fixing</a:t>
            </a:r>
          </a:p>
          <a:p>
            <a:pPr>
              <a:spcBef>
                <a:spcPts val="400"/>
              </a:spcBef>
              <a:defRPr sz="1000">
                <a:solidFill>
                  <a:srgbClr val="8892B0"/>
                </a:solidFill>
                <a:latin typeface="Arial"/>
              </a:defRPr>
            </a:pPr>
            <a:r>
              <a:t>Moroccan banks cannot carry unvalued foreign currency books overnight. Daily revaluation to MAD is mandated by Bank Al-Maghrib.</a:t>
            </a:r>
          </a:p>
        </p:txBody>
      </p:sp>
      <p:sp>
        <p:nvSpPr>
          <p:cNvPr id="9" name="Rounded Rectangle 8"/>
          <p:cNvSpPr/>
          <p:nvPr/>
        </p:nvSpPr>
        <p:spPr>
          <a:xfrm>
            <a:off x="731520" y="3383280"/>
            <a:ext cx="5257800" cy="18288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47872"/>
            <a:ext cx="4709160" cy="1508760"/>
          </a:xfrm>
          <a:prstGeom prst="rect">
            <a:avLst/>
          </a:prstGeom>
          <a:noFill/>
        </p:spPr>
        <p:txBody>
          <a:bodyPr wrap="square">
            <a:spAutoFit/>
          </a:bodyPr>
          <a:lstStyle/>
          <a:p>
            <a:pPr>
              <a:defRPr sz="2800" b="1">
                <a:solidFill>
                  <a:srgbClr val="F43F5E"/>
                </a:solidFill>
                <a:latin typeface="Arial"/>
              </a:defRPr>
            </a:pPr>
            <a:r>
              <a:t>4 Fatal Breaks</a:t>
            </a:r>
          </a:p>
          <a:p>
            <a:pPr>
              <a:spcBef>
                <a:spcPts val="200"/>
              </a:spcBef>
              <a:defRPr sz="1200" b="1">
                <a:solidFill>
                  <a:srgbClr val="F8FAFC"/>
                </a:solidFill>
                <a:latin typeface="Arial"/>
              </a:defRPr>
            </a:pPr>
            <a:r>
              <a:t>Manual Excel Vulnerabilities</a:t>
            </a:r>
          </a:p>
          <a:p>
            <a:pPr>
              <a:spcBef>
                <a:spcPts val="400"/>
              </a:spcBef>
              <a:defRPr sz="1000">
                <a:solidFill>
                  <a:srgbClr val="8892B0"/>
                </a:solidFill>
                <a:latin typeface="Arial"/>
              </a:defRPr>
            </a:pPr>
            <a:r>
              <a:t>Rate slippage, nominal mismatch, unconfirmed SWIFT affirmations, and rogue trades cause hidden financial leakage.</a:t>
            </a:r>
          </a:p>
        </p:txBody>
      </p:sp>
      <p:sp>
        <p:nvSpPr>
          <p:cNvPr id="11" name="Rounded Rectangle 10"/>
          <p:cNvSpPr/>
          <p:nvPr/>
        </p:nvSpPr>
        <p:spPr>
          <a:xfrm>
            <a:off x="6172200" y="3383280"/>
            <a:ext cx="5257800" cy="18288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547872"/>
            <a:ext cx="4709160" cy="1508760"/>
          </a:xfrm>
          <a:prstGeom prst="rect">
            <a:avLst/>
          </a:prstGeom>
          <a:noFill/>
        </p:spPr>
        <p:txBody>
          <a:bodyPr wrap="square">
            <a:spAutoFit/>
          </a:bodyPr>
          <a:lstStyle/>
          <a:p>
            <a:pPr>
              <a:defRPr sz="2800" b="1">
                <a:solidFill>
                  <a:srgbClr val="10B981"/>
                </a:solidFill>
                <a:latin typeface="Arial"/>
              </a:defRPr>
            </a:pPr>
            <a:r>
              <a:t>100% Identity</a:t>
            </a:r>
          </a:p>
          <a:p>
            <a:pPr>
              <a:spcBef>
                <a:spcPts val="200"/>
              </a:spcBef>
              <a:defRPr sz="1200" b="1">
                <a:solidFill>
                  <a:srgbClr val="F8FAFC"/>
                </a:solidFill>
                <a:latin typeface="Arial"/>
              </a:defRPr>
            </a:pPr>
            <a:r>
              <a:t>Accounting Rule BR3</a:t>
            </a:r>
          </a:p>
          <a:p>
            <a:pPr>
              <a:spcBef>
                <a:spcPts val="400"/>
              </a:spcBef>
              <a:defRPr sz="1000">
                <a:solidFill>
                  <a:srgbClr val="8892B0"/>
                </a:solidFill>
                <a:latin typeface="Arial"/>
              </a:defRPr>
            </a:pPr>
            <a:r>
              <a:t>Total MTM P&amp;L must strictly equal Realized + Unrealized P&amp;L. Zero financial leakage allowed in production.</a:t>
            </a:r>
          </a:p>
        </p:txBody>
      </p:sp>
      <p:sp>
        <p:nvSpPr>
          <p:cNvPr id="13" name="Rounded Rectangle 12"/>
          <p:cNvSpPr/>
          <p:nvPr/>
        </p:nvSpPr>
        <p:spPr>
          <a:xfrm>
            <a:off x="731520" y="5486400"/>
            <a:ext cx="10728655" cy="822960"/>
          </a:xfrm>
          <a:prstGeom prst="roundRect">
            <a:avLst/>
          </a:prstGeom>
          <a:solidFill>
            <a:srgbClr val="0F1E38"/>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548640"/>
          </a:xfrm>
          <a:prstGeom prst="rect">
            <a:avLst/>
          </a:prstGeom>
          <a:noFill/>
        </p:spPr>
        <p:txBody>
          <a:bodyPr wrap="square">
            <a:spAutoFit/>
          </a:bodyPr>
          <a:lstStyle/>
          <a:p>
            <a:pPr>
              <a:defRPr sz="1100" b="1">
                <a:solidFill>
                  <a:srgbClr val="F8FAFC"/>
                </a:solidFill>
                <a:latin typeface="Arial"/>
              </a:defRPr>
            </a:pPr>
            <a:r>
              <a:t>FX Trading Room Platform: Automated EOD revaluation against Bank Al-Maghrib fixing, automated Front-to-Back dispute detection, and guaranteed zero financial leakage.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F8FAFC"/>
                </a:solidFill>
                <a:latin typeface="Arial"/>
              </a:defRPr>
            </a:pPr>
            <a:r>
              <a:t>02  /  System Architecture</a:t>
            </a:r>
          </a:p>
        </p:txBody>
      </p:sp>
      <p:sp>
        <p:nvSpPr>
          <p:cNvPr id="3" name="Rounded Rectangle 2"/>
          <p:cNvSpPr/>
          <p:nvPr/>
        </p:nvSpPr>
        <p:spPr>
          <a:xfrm>
            <a:off x="960120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UIR ]</a:t>
            </a:r>
          </a:p>
        </p:txBody>
      </p:sp>
      <p:sp>
        <p:nvSpPr>
          <p:cNvPr id="4" name="Rounded Rectangle 3"/>
          <p:cNvSpPr/>
          <p:nvPr/>
        </p:nvSpPr>
        <p:spPr>
          <a:xfrm>
            <a:off x="1060704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DXC ]</a:t>
            </a:r>
          </a:p>
        </p:txBody>
      </p:sp>
      <p:sp>
        <p:nvSpPr>
          <p:cNvPr id="5" name="Rounded Rectangle 4"/>
          <p:cNvSpPr/>
          <p:nvPr/>
        </p:nvSpPr>
        <p:spPr>
          <a:xfrm>
            <a:off x="731520" y="1371600"/>
            <a:ext cx="7589520" cy="493776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7040880" cy="4572000"/>
          </a:xfrm>
          <a:prstGeom prst="rect">
            <a:avLst/>
          </a:prstGeom>
          <a:noFill/>
        </p:spPr>
        <p:txBody>
          <a:bodyPr wrap="square">
            <a:spAutoFit/>
          </a:bodyPr>
          <a:lstStyle/>
          <a:p>
            <a:pPr>
              <a:defRPr sz="1150" b="1">
                <a:solidFill>
                  <a:srgbClr val="38BDF8"/>
                </a:solidFill>
                <a:latin typeface="Arial"/>
              </a:defRPr>
            </a:pPr>
            <a:r>
              <a:t>📥  1. Ingestion Layer</a:t>
            </a:r>
          </a:p>
          <a:p>
            <a:pPr>
              <a:spcBef>
                <a:spcPts val="200"/>
              </a:spcBef>
              <a:defRPr sz="950">
                <a:solidFill>
                  <a:srgbClr val="CCD6F6"/>
                </a:solidFill>
                <a:latin typeface="Arial"/>
              </a:defRPr>
            </a:pPr>
            <a:r>
              <a:t>Raw CSV trade tickets, interbank feeds &amp; Bank Al-Maghrib official fixing rates.</a:t>
            </a:r>
          </a:p>
          <a:p>
            <a:pPr>
              <a:spcBef>
                <a:spcPts val="800"/>
              </a:spcBef>
              <a:defRPr sz="1150" b="1">
                <a:solidFill>
                  <a:srgbClr val="38BDF8"/>
                </a:solidFill>
                <a:latin typeface="Arial"/>
              </a:defRPr>
            </a:pPr>
            <a:r>
              <a:t>🥉  2. Bronze Staging</a:t>
            </a:r>
          </a:p>
          <a:p>
            <a:pPr>
              <a:spcBef>
                <a:spcPts val="200"/>
              </a:spcBef>
              <a:defRPr sz="950">
                <a:solidFill>
                  <a:srgbClr val="CCD6F6"/>
                </a:solidFill>
                <a:latin typeface="Arial"/>
              </a:defRPr>
            </a:pPr>
            <a:r>
              <a:t>PostgreSQL relational tables (stg_trade, stg_market_rate) with transparent SQLite fallback.</a:t>
            </a:r>
          </a:p>
          <a:p>
            <a:pPr>
              <a:spcBef>
                <a:spcPts val="800"/>
              </a:spcBef>
              <a:defRPr sz="1150" b="1">
                <a:solidFill>
                  <a:srgbClr val="F59E0B"/>
                </a:solidFill>
                <a:latin typeface="Arial"/>
              </a:defRPr>
            </a:pPr>
            <a:r>
              <a:t>🥈  3. Silver Marts (dbt)</a:t>
            </a:r>
          </a:p>
          <a:p>
            <a:pPr>
              <a:spcBef>
                <a:spcPts val="200"/>
              </a:spcBef>
              <a:defRPr sz="950">
                <a:solidFill>
                  <a:srgbClr val="CCD6F6"/>
                </a:solidFill>
                <a:latin typeface="Arial"/>
              </a:defRPr>
            </a:pPr>
            <a:r>
              <a:t>dbt Core SQL transformation models (fact_trade_mtm) and synthetic EUR/USD cross conversions.</a:t>
            </a:r>
          </a:p>
          <a:p>
            <a:pPr>
              <a:spcBef>
                <a:spcPts val="800"/>
              </a:spcBef>
              <a:defRPr sz="1150" b="1">
                <a:solidFill>
                  <a:srgbClr val="10B981"/>
                </a:solidFill>
                <a:latin typeface="Arial"/>
              </a:defRPr>
            </a:pPr>
            <a:r>
              <a:t>🥇  4. Gold Calculation Engine</a:t>
            </a:r>
          </a:p>
          <a:p>
            <a:pPr>
              <a:spcBef>
                <a:spcPts val="200"/>
              </a:spcBef>
              <a:defRPr sz="950">
                <a:solidFill>
                  <a:srgbClr val="CCD6F6"/>
                </a:solidFill>
                <a:latin typeface="Arial"/>
              </a:defRPr>
            </a:pPr>
            <a:r>
              <a:t>Python FIFO lot unwinding deque, WAC rolling average cost, and Bank Al-Maghrib peg checks.</a:t>
            </a:r>
          </a:p>
          <a:p>
            <a:pPr>
              <a:spcBef>
                <a:spcPts val="800"/>
              </a:spcBef>
              <a:defRPr sz="1150" b="1">
                <a:solidFill>
                  <a:srgbClr val="10B981"/>
                </a:solidFill>
                <a:latin typeface="Arial"/>
              </a:defRPr>
            </a:pPr>
            <a:r>
              <a:t>🔍  5. Front-to-Back Reconciliation</a:t>
            </a:r>
          </a:p>
          <a:p>
            <a:pPr>
              <a:spcBef>
                <a:spcPts val="200"/>
              </a:spcBef>
              <a:defRPr sz="950">
                <a:solidFill>
                  <a:srgbClr val="CCD6F6"/>
                </a:solidFill>
                <a:latin typeface="Arial"/>
              </a:defRPr>
            </a:pPr>
            <a:r>
              <a:t>Automated matching engine detecting rate slippage, nominal mismatches, and unconfirmed SWIFT deals.</a:t>
            </a:r>
          </a:p>
          <a:p>
            <a:pPr>
              <a:spcBef>
                <a:spcPts val="800"/>
              </a:spcBef>
              <a:defRPr sz="1150" b="1">
                <a:solidFill>
                  <a:srgbClr val="10B981"/>
                </a:solidFill>
                <a:latin typeface="Arial"/>
              </a:defRPr>
            </a:pPr>
            <a:r>
              <a:t>✅  6. Persistence &amp; UI</a:t>
            </a:r>
          </a:p>
          <a:p>
            <a:pPr>
              <a:spcBef>
                <a:spcPts val="200"/>
              </a:spcBef>
              <a:defRPr sz="950">
                <a:solidFill>
                  <a:srgbClr val="CCD6F6"/>
                </a:solidFill>
                <a:latin typeface="Arial"/>
              </a:defRPr>
            </a:pPr>
            <a:r>
              <a:t>Audited daily_pnl table (enforced by CHECK rule), Streamlit trading terminal &amp; 1-click Excel export.</a:t>
            </a:r>
          </a:p>
        </p:txBody>
      </p:sp>
      <p:sp>
        <p:nvSpPr>
          <p:cNvPr id="7" name="Rounded Rectangle 6"/>
          <p:cNvSpPr/>
          <p:nvPr/>
        </p:nvSpPr>
        <p:spPr>
          <a:xfrm>
            <a:off x="8503920" y="1371600"/>
            <a:ext cx="2956255" cy="493776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554480"/>
            <a:ext cx="2590495" cy="4572000"/>
          </a:xfrm>
          <a:prstGeom prst="rect">
            <a:avLst/>
          </a:prstGeom>
          <a:noFill/>
        </p:spPr>
        <p:txBody>
          <a:bodyPr wrap="square">
            <a:spAutoFit/>
          </a:bodyPr>
          <a:lstStyle/>
          <a:p>
            <a:pPr>
              <a:defRPr sz="1400" b="1">
                <a:solidFill>
                  <a:srgbClr val="F8FAFC"/>
                </a:solidFill>
                <a:latin typeface="Arial"/>
              </a:defRPr>
            </a:pPr>
            <a:r>
              <a:t>Tech Stack</a:t>
            </a:r>
          </a:p>
          <a:p>
            <a:pPr>
              <a:spcBef>
                <a:spcPts val="800"/>
              </a:spcBef>
              <a:defRPr sz="1050" b="1">
                <a:solidFill>
                  <a:srgbClr val="38BDF8"/>
                </a:solidFill>
                <a:latin typeface="Arial"/>
              </a:defRPr>
            </a:pPr>
            <a:r>
              <a:t>▸ PostgreSQL 15</a:t>
            </a:r>
          </a:p>
          <a:p>
            <a:pPr>
              <a:spcBef>
                <a:spcPts val="800"/>
              </a:spcBef>
              <a:defRPr sz="1050" b="1">
                <a:solidFill>
                  <a:srgbClr val="38BDF8"/>
                </a:solidFill>
                <a:latin typeface="Arial"/>
              </a:defRPr>
            </a:pPr>
            <a:r>
              <a:t>▸ dbt Core 1.8</a:t>
            </a:r>
          </a:p>
          <a:p>
            <a:pPr>
              <a:spcBef>
                <a:spcPts val="800"/>
              </a:spcBef>
              <a:defRPr sz="1050" b="1">
                <a:solidFill>
                  <a:srgbClr val="38BDF8"/>
                </a:solidFill>
                <a:latin typeface="Arial"/>
              </a:defRPr>
            </a:pPr>
            <a:r>
              <a:t>▸ Apache Airflow</a:t>
            </a:r>
          </a:p>
          <a:p>
            <a:pPr>
              <a:spcBef>
                <a:spcPts val="800"/>
              </a:spcBef>
              <a:defRPr sz="1050" b="1">
                <a:solidFill>
                  <a:srgbClr val="38BDF8"/>
                </a:solidFill>
                <a:latin typeface="Arial"/>
              </a:defRPr>
            </a:pPr>
            <a:r>
              <a:t>▸ Python 3.11</a:t>
            </a:r>
          </a:p>
          <a:p>
            <a:pPr>
              <a:spcBef>
                <a:spcPts val="800"/>
              </a:spcBef>
              <a:defRPr sz="1050" b="1">
                <a:solidFill>
                  <a:srgbClr val="38BDF8"/>
                </a:solidFill>
                <a:latin typeface="Arial"/>
              </a:defRPr>
            </a:pPr>
            <a:r>
              <a:t>▸ Streamlit</a:t>
            </a:r>
          </a:p>
          <a:p>
            <a:pPr>
              <a:spcBef>
                <a:spcPts val="800"/>
              </a:spcBef>
              <a:defRPr sz="1050" b="1">
                <a:solidFill>
                  <a:srgbClr val="38BDF8"/>
                </a:solidFill>
                <a:latin typeface="Arial"/>
              </a:defRPr>
            </a:pPr>
            <a:r>
              <a:t>▸ Plotly</a:t>
            </a:r>
          </a:p>
          <a:p>
            <a:pPr>
              <a:spcBef>
                <a:spcPts val="800"/>
              </a:spcBef>
              <a:defRPr sz="1050" b="1">
                <a:solidFill>
                  <a:srgbClr val="38BDF8"/>
                </a:solidFill>
                <a:latin typeface="Arial"/>
              </a:defRPr>
            </a:pPr>
            <a:r>
              <a:t>▸ openpyxl</a:t>
            </a:r>
          </a:p>
          <a:p>
            <a:pPr>
              <a:spcBef>
                <a:spcPts val="800"/>
              </a:spcBef>
              <a:defRPr sz="1050" b="1">
                <a:solidFill>
                  <a:srgbClr val="38BDF8"/>
                </a:solidFill>
                <a:latin typeface="Arial"/>
              </a:defRPr>
            </a:pPr>
            <a:r>
              <a:t>▸ pytest</a:t>
            </a:r>
          </a:p>
          <a:p>
            <a:pPr>
              <a:spcBef>
                <a:spcPts val="800"/>
              </a:spcBef>
              <a:defRPr sz="1050" b="1">
                <a:solidFill>
                  <a:srgbClr val="38BDF8"/>
                </a:solidFill>
                <a:latin typeface="Arial"/>
              </a:defRPr>
            </a:pPr>
            <a:r>
              <a:t>▸ Docker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F8FAFC"/>
                </a:solidFill>
                <a:latin typeface="Arial"/>
              </a:defRPr>
            </a:pPr>
            <a:r>
              <a:t>03  /  Financial Core — The 4 Benchmark Trades</a:t>
            </a:r>
          </a:p>
        </p:txBody>
      </p:sp>
      <p:sp>
        <p:nvSpPr>
          <p:cNvPr id="3" name="Rounded Rectangle 2"/>
          <p:cNvSpPr/>
          <p:nvPr/>
        </p:nvSpPr>
        <p:spPr>
          <a:xfrm>
            <a:off x="960120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UIR ]</a:t>
            </a:r>
          </a:p>
        </p:txBody>
      </p:sp>
      <p:sp>
        <p:nvSpPr>
          <p:cNvPr id="4" name="Rounded Rectangle 3"/>
          <p:cNvSpPr/>
          <p:nvPr/>
        </p:nvSpPr>
        <p:spPr>
          <a:xfrm>
            <a:off x="1060704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DXC ]</a:t>
            </a:r>
          </a:p>
        </p:txBody>
      </p:sp>
      <p:sp>
        <p:nvSpPr>
          <p:cNvPr id="5" name="Rounded Rectangle 4"/>
          <p:cNvSpPr/>
          <p:nvPr/>
        </p:nvSpPr>
        <p:spPr>
          <a:xfrm>
            <a:off x="731520" y="1371600"/>
            <a:ext cx="3383280" cy="13716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08760"/>
            <a:ext cx="2926080" cy="1097280"/>
          </a:xfrm>
          <a:prstGeom prst="rect">
            <a:avLst/>
          </a:prstGeom>
          <a:noFill/>
        </p:spPr>
        <p:txBody>
          <a:bodyPr wrap="square">
            <a:spAutoFit/>
          </a:bodyPr>
          <a:lstStyle/>
          <a:p>
            <a:pPr>
              <a:defRPr sz="2600" b="1">
                <a:solidFill>
                  <a:srgbClr val="38BDF8"/>
                </a:solidFill>
                <a:latin typeface="Arial"/>
              </a:defRPr>
            </a:pPr>
            <a:r>
              <a:t>+79,460 MAD</a:t>
            </a:r>
          </a:p>
          <a:p>
            <a:pPr>
              <a:spcBef>
                <a:spcPts val="200"/>
              </a:spcBef>
              <a:defRPr sz="1100" b="1">
                <a:solidFill>
                  <a:srgbClr val="F8FAFC"/>
                </a:solidFill>
                <a:latin typeface="Arial"/>
              </a:defRPr>
            </a:pPr>
            <a:r>
              <a:t>Total Mark-to-Market P&amp;L</a:t>
            </a:r>
          </a:p>
        </p:txBody>
      </p:sp>
      <p:sp>
        <p:nvSpPr>
          <p:cNvPr id="7" name="Rounded Rectangle 6"/>
          <p:cNvSpPr/>
          <p:nvPr/>
        </p:nvSpPr>
        <p:spPr>
          <a:xfrm>
            <a:off x="4389120" y="1371600"/>
            <a:ext cx="3383280" cy="13716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508760"/>
            <a:ext cx="2926080" cy="1097280"/>
          </a:xfrm>
          <a:prstGeom prst="rect">
            <a:avLst/>
          </a:prstGeom>
          <a:noFill/>
        </p:spPr>
        <p:txBody>
          <a:bodyPr wrap="square">
            <a:spAutoFit/>
          </a:bodyPr>
          <a:lstStyle/>
          <a:p>
            <a:pPr>
              <a:defRPr sz="2600" b="1">
                <a:solidFill>
                  <a:srgbClr val="10B981"/>
                </a:solidFill>
                <a:latin typeface="Arial"/>
              </a:defRPr>
            </a:pPr>
            <a:r>
              <a:t>+20,000 MAD</a:t>
            </a:r>
          </a:p>
          <a:p>
            <a:pPr>
              <a:spcBef>
                <a:spcPts val="200"/>
              </a:spcBef>
              <a:defRPr sz="1100" b="1">
                <a:solidFill>
                  <a:srgbClr val="F8FAFC"/>
                </a:solidFill>
                <a:latin typeface="Arial"/>
              </a:defRPr>
            </a:pPr>
            <a:r>
              <a:t>Realized P&amp;L (Cash)</a:t>
            </a:r>
          </a:p>
        </p:txBody>
      </p:sp>
      <p:sp>
        <p:nvSpPr>
          <p:cNvPr id="9" name="Rounded Rectangle 8"/>
          <p:cNvSpPr/>
          <p:nvPr/>
        </p:nvSpPr>
        <p:spPr>
          <a:xfrm>
            <a:off x="8046720" y="1371600"/>
            <a:ext cx="3383280" cy="13716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508760"/>
            <a:ext cx="2926080" cy="1097280"/>
          </a:xfrm>
          <a:prstGeom prst="rect">
            <a:avLst/>
          </a:prstGeom>
          <a:noFill/>
        </p:spPr>
        <p:txBody>
          <a:bodyPr wrap="square">
            <a:spAutoFit/>
          </a:bodyPr>
          <a:lstStyle/>
          <a:p>
            <a:pPr>
              <a:defRPr sz="2600" b="1">
                <a:solidFill>
                  <a:srgbClr val="F59E0B"/>
                </a:solidFill>
                <a:latin typeface="Arial"/>
              </a:defRPr>
            </a:pPr>
            <a:r>
              <a:t>+59,460 MAD</a:t>
            </a:r>
          </a:p>
          <a:p>
            <a:pPr>
              <a:spcBef>
                <a:spcPts val="200"/>
              </a:spcBef>
              <a:defRPr sz="1100" b="1">
                <a:solidFill>
                  <a:srgbClr val="F8FAFC"/>
                </a:solidFill>
                <a:latin typeface="Arial"/>
              </a:defRPr>
            </a:pPr>
            <a:r>
              <a:t>Unrealized P&amp;L (Latent)</a:t>
            </a:r>
          </a:p>
        </p:txBody>
      </p:sp>
      <p:sp>
        <p:nvSpPr>
          <p:cNvPr id="11" name="Rounded Rectangle 10"/>
          <p:cNvSpPr/>
          <p:nvPr/>
        </p:nvSpPr>
        <p:spPr>
          <a:xfrm>
            <a:off x="731520" y="2926080"/>
            <a:ext cx="10728655" cy="33832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063240"/>
            <a:ext cx="10149840" cy="3108960"/>
          </a:xfrm>
          <a:prstGeom prst="rect">
            <a:avLst/>
          </a:prstGeom>
          <a:noFill/>
        </p:spPr>
        <p:txBody>
          <a:bodyPr wrap="square">
            <a:spAutoFit/>
          </a:bodyPr>
          <a:lstStyle/>
          <a:p>
            <a:pPr>
              <a:defRPr sz="1300" b="1">
                <a:solidFill>
                  <a:srgbClr val="F8FAFC"/>
                </a:solidFill>
                <a:latin typeface="Arial"/>
              </a:defRPr>
            </a:pPr>
            <a:r>
              <a:t>Mathematical Breakdown of the 4 Reference Trades (Report Table 2.2 – 2.4)</a:t>
            </a:r>
          </a:p>
          <a:p>
            <a:pPr>
              <a:spcBef>
                <a:spcPts val="800"/>
              </a:spcBef>
              <a:defRPr b="1" sz="1050">
                <a:solidFill>
                  <a:srgbClr val="F8FAFC"/>
                </a:solidFill>
              </a:defRPr>
            </a:pPr>
            <a:r>
              <a:t>• Trade 1 (T1) · USD/MAD Buy 1M @ 9.9200  [BAM Fixing: 9.9500 MAD]</a:t>
            </a:r>
          </a:p>
          <a:p>
            <a:pPr>
              <a:defRPr sz="950">
                <a:solidFill>
                  <a:srgbClr val="38BDF8"/>
                </a:solidFill>
                <a:latin typeface="Consolas"/>
              </a:defRPr>
            </a:pPr>
            <a:r>
              <a:t>  Calculation: (9.9500 - 9.9200) * 1,000,000 = +30,000 MAD (MTM)</a:t>
            </a:r>
          </a:p>
          <a:p>
            <a:pPr>
              <a:spcBef>
                <a:spcPts val="800"/>
              </a:spcBef>
              <a:defRPr b="1" sz="1050">
                <a:solidFill>
                  <a:srgbClr val="F8FAFC"/>
                </a:solidFill>
              </a:defRPr>
            </a:pPr>
            <a:r>
              <a:t>• Trade 2 (T2) · USD/MAD Sell 500k @ 9.9600  [Unwinds half of T1]</a:t>
            </a:r>
          </a:p>
          <a:p>
            <a:pPr>
              <a:defRPr sz="950">
                <a:solidFill>
                  <a:srgbClr val="38BDF8"/>
                </a:solidFill>
                <a:latin typeface="Consolas"/>
              </a:defRPr>
            </a:pPr>
            <a:r>
              <a:t>  Calculation: Realized Cash: (9.96 - 9.92) * 500k = +20,000 MAD  |  Remaining Latent: +15,000 MAD</a:t>
            </a:r>
          </a:p>
          <a:p>
            <a:pPr>
              <a:spcBef>
                <a:spcPts val="800"/>
              </a:spcBef>
              <a:defRPr b="1" sz="1050">
                <a:solidFill>
                  <a:srgbClr val="F8FAFC"/>
                </a:solidFill>
              </a:defRPr>
            </a:pPr>
            <a:r>
              <a:t>• Trade 3 (T3) · EUR/MAD Buy 800k @ 10.7700  [BAM Fixing: 10.8000 MAD]</a:t>
            </a:r>
          </a:p>
          <a:p>
            <a:pPr>
              <a:defRPr sz="950">
                <a:solidFill>
                  <a:srgbClr val="38BDF8"/>
                </a:solidFill>
                <a:latin typeface="Consolas"/>
              </a:defRPr>
            </a:pPr>
            <a:r>
              <a:t>  Calculation: (10.8000 - 10.7700) * 800,000 = +24,000 MAD (Latent)</a:t>
            </a:r>
          </a:p>
          <a:p>
            <a:pPr>
              <a:spcBef>
                <a:spcPts val="800"/>
              </a:spcBef>
              <a:defRPr b="1" sz="1050">
                <a:solidFill>
                  <a:srgbClr val="F8FAFC"/>
                </a:solidFill>
              </a:defRPr>
            </a:pPr>
            <a:r>
              <a:t>• Trade 4 (T4) · EUR/USD Buy 600k @ 1.0820  [Synthetic Cross in MAD]</a:t>
            </a:r>
          </a:p>
          <a:p>
            <a:pPr>
              <a:defRPr sz="950">
                <a:solidFill>
                  <a:srgbClr val="38BDF8"/>
                </a:solidFill>
                <a:latin typeface="Consolas"/>
              </a:defRPr>
            </a:pPr>
            <a:r>
              <a:t>  Calculation: (10.8000 - (1.0820 * 9.9500)) * 600,000 = +20,460 MAD (Latent)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F8FAFC"/>
                </a:solidFill>
                <a:latin typeface="Arial"/>
              </a:defRPr>
            </a:pPr>
            <a:r>
              <a:t>04  /  Inventory Accounting — FIFO vs. CMP &amp; Typo Fix</a:t>
            </a:r>
          </a:p>
        </p:txBody>
      </p:sp>
      <p:sp>
        <p:nvSpPr>
          <p:cNvPr id="3" name="Rounded Rectangle 2"/>
          <p:cNvSpPr/>
          <p:nvPr/>
        </p:nvSpPr>
        <p:spPr>
          <a:xfrm>
            <a:off x="960120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UIR ]</a:t>
            </a:r>
          </a:p>
        </p:txBody>
      </p:sp>
      <p:sp>
        <p:nvSpPr>
          <p:cNvPr id="4" name="Rounded Rectangle 3"/>
          <p:cNvSpPr/>
          <p:nvPr/>
        </p:nvSpPr>
        <p:spPr>
          <a:xfrm>
            <a:off x="1060704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DXC ]</a:t>
            </a:r>
          </a:p>
        </p:txBody>
      </p:sp>
      <p:sp>
        <p:nvSpPr>
          <p:cNvPr id="5" name="Rounded Rectangle 4"/>
          <p:cNvSpPr/>
          <p:nvPr/>
        </p:nvSpPr>
        <p:spPr>
          <a:xfrm>
            <a:off x="731520" y="1371600"/>
            <a:ext cx="5257800" cy="329184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4800600" cy="2926080"/>
          </a:xfrm>
          <a:prstGeom prst="rect">
            <a:avLst/>
          </a:prstGeom>
          <a:noFill/>
        </p:spPr>
        <p:txBody>
          <a:bodyPr wrap="square">
            <a:spAutoFit/>
          </a:bodyPr>
          <a:lstStyle/>
          <a:p>
            <a:pPr>
              <a:defRPr b="1" sz="1300">
                <a:solidFill>
                  <a:srgbClr val="10B981"/>
                </a:solidFill>
              </a:defRPr>
            </a:pPr>
            <a:r>
              <a:t>FIFO Method (Murex / Capital Markets Standard)</a:t>
            </a:r>
          </a:p>
          <a:p>
            <a:pPr>
              <a:spcBef>
                <a:spcPts val="600"/>
              </a:spcBef>
              <a:defRPr sz="1000">
                <a:solidFill>
                  <a:srgbClr val="8892B0"/>
                </a:solidFill>
              </a:defRPr>
            </a:pPr>
            <a:r>
              <a:t>Position: 2 Purchases (500k @ 9.91 and 500k @ 9.93) + 1 Sale (600k @ 9.95)</a:t>
            </a:r>
            <a:br/>
          </a:p>
          <a:p>
            <a:pPr>
              <a:spcBef>
                <a:spcPts val="400"/>
              </a:spcBef>
              <a:defRPr b="1" sz="1050">
                <a:solidFill>
                  <a:srgbClr val="CCD6F6"/>
                </a:solidFill>
              </a:defRPr>
            </a:pPr>
            <a:r>
              <a:t>1. Lot 1 exhausted first (500,000 @ 9.91):</a:t>
            </a:r>
            <a:br/>
            <a:r>
              <a:t>   (9.9500 - 9.9100) * 500,000 = +20,000 MAD</a:t>
            </a:r>
            <a:br/>
            <a:br/>
            <a:r>
              <a:t>2. Lot 2 partially consumed (100,000 @ 9.93):</a:t>
            </a:r>
            <a:br/>
            <a:r>
              <a:t>   (9.9500 - 9.9300) * 100,000 = +2,000 MAD</a:t>
            </a:r>
            <a:br/>
            <a:br/>
            <a:r>
              <a:t>Total Realized P&amp;L = +22,000 MAD (Remaining: 400k @ 9.93)</a:t>
            </a:r>
          </a:p>
        </p:txBody>
      </p:sp>
      <p:sp>
        <p:nvSpPr>
          <p:cNvPr id="7" name="Rounded Rectangle 6"/>
          <p:cNvSpPr/>
          <p:nvPr/>
        </p:nvSpPr>
        <p:spPr>
          <a:xfrm>
            <a:off x="6217920" y="1371600"/>
            <a:ext cx="5257800" cy="329184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800600" cy="2926080"/>
          </a:xfrm>
          <a:prstGeom prst="rect">
            <a:avLst/>
          </a:prstGeom>
          <a:noFill/>
        </p:spPr>
        <p:txBody>
          <a:bodyPr wrap="square">
            <a:spAutoFit/>
          </a:bodyPr>
          <a:lstStyle/>
          <a:p>
            <a:pPr>
              <a:defRPr b="1" sz="1300">
                <a:solidFill>
                  <a:srgbClr val="38BDF8"/>
                </a:solidFill>
              </a:defRPr>
            </a:pPr>
            <a:r>
              <a:t>CMP / WAC (Moroccan Accounting Standard)</a:t>
            </a:r>
          </a:p>
          <a:p>
            <a:pPr>
              <a:spcBef>
                <a:spcPts val="600"/>
              </a:spcBef>
              <a:defRPr sz="1000">
                <a:solidFill>
                  <a:srgbClr val="8892B0"/>
                </a:solidFill>
              </a:defRPr>
            </a:pPr>
            <a:r>
              <a:t>Weighted Average Cost Calculation:</a:t>
            </a:r>
            <a:br/>
          </a:p>
          <a:p>
            <a:pPr>
              <a:spcBef>
                <a:spcPts val="400"/>
              </a:spcBef>
              <a:defRPr b="1" sz="1050">
                <a:solidFill>
                  <a:srgbClr val="CCD6F6"/>
                </a:solidFill>
              </a:defRPr>
            </a:pPr>
            <a:r>
              <a:t>• Weighted Unit Cost:</a:t>
            </a:r>
            <a:br/>
            <a:r>
              <a:t>   ((500k * 9.91) + (500k * 9.93)) / 1,000,000 = 9.9200 MAD</a:t>
            </a:r>
            <a:br/>
            <a:br/>
            <a:r>
              <a:t>• Realized P&amp;L on 600,000 Sale:</a:t>
            </a:r>
            <a:br/>
            <a:r>
              <a:t>   (9.9500 - 9.9200) * 600,000 = +18,000 MAD</a:t>
            </a:r>
            <a:br/>
            <a:br/>
            <a:r>
              <a:t>Total Realized P&amp;L = +18,000 MAD (Remaining: 400k @ 9.92)</a:t>
            </a:r>
          </a:p>
        </p:txBody>
      </p:sp>
      <p:sp>
        <p:nvSpPr>
          <p:cNvPr id="9" name="Rounded Rectangle 8"/>
          <p:cNvSpPr/>
          <p:nvPr/>
        </p:nvSpPr>
        <p:spPr>
          <a:xfrm>
            <a:off x="731520" y="4846320"/>
            <a:ext cx="10728655" cy="1463040"/>
          </a:xfrm>
          <a:prstGeom prst="roundRect">
            <a:avLst/>
          </a:prstGeom>
          <a:solidFill>
            <a:srgbClr val="0F1E38"/>
          </a:solidFill>
          <a:ln w="1397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83480"/>
            <a:ext cx="10149840" cy="1188720"/>
          </a:xfrm>
          <a:prstGeom prst="rect">
            <a:avLst/>
          </a:prstGeom>
          <a:noFill/>
        </p:spPr>
        <p:txBody>
          <a:bodyPr wrap="square">
            <a:spAutoFit/>
          </a:bodyPr>
          <a:lstStyle/>
          <a:p>
            <a:pPr>
              <a:defRPr b="1" sz="1100">
                <a:solidFill>
                  <a:srgbClr val="F59E0B"/>
                </a:solidFill>
              </a:defRPr>
            </a:pPr>
            <a:r>
              <a:t>🔍  KEY AUDIT DISCOVERY &amp; TYPO FIX (Report Section 8.2)</a:t>
            </a:r>
          </a:p>
          <a:p>
            <a:pPr>
              <a:spcBef>
                <a:spcPts val="400"/>
              </a:spcBef>
              <a:defRPr sz="1000">
                <a:solidFill>
                  <a:srgbClr val="CCD6F6"/>
                </a:solidFill>
              </a:defRPr>
            </a:pPr>
            <a:r>
              <a:t>The initial brief prose stated '21,500 MAD (19,500 + 2,000)' due to a clerical typo. Our engine recalculation mathematically proves that (9.95 - 9.91) * 500,000 = 20,000 MAD (not 19,500 MAD), establishing the true figure of 22,000 MAD. Demonstrates true engineering judgment beyond blind transcription.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F8FAFC"/>
                </a:solidFill>
                <a:latin typeface="Arial"/>
              </a:defRPr>
            </a:pPr>
            <a:r>
              <a:t>05  /  Front-to-Back Reconciliation — 4 Banking Breaks</a:t>
            </a:r>
          </a:p>
        </p:txBody>
      </p:sp>
      <p:sp>
        <p:nvSpPr>
          <p:cNvPr id="3" name="Rounded Rectangle 2"/>
          <p:cNvSpPr/>
          <p:nvPr/>
        </p:nvSpPr>
        <p:spPr>
          <a:xfrm>
            <a:off x="960120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UIR ]</a:t>
            </a:r>
          </a:p>
        </p:txBody>
      </p:sp>
      <p:sp>
        <p:nvSpPr>
          <p:cNvPr id="4" name="Rounded Rectangle 3"/>
          <p:cNvSpPr/>
          <p:nvPr/>
        </p:nvSpPr>
        <p:spPr>
          <a:xfrm>
            <a:off x="1060704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DXC ]</a:t>
            </a:r>
          </a:p>
        </p:txBody>
      </p:sp>
      <p:sp>
        <p:nvSpPr>
          <p:cNvPr id="5" name="Rounded Rectangle 4"/>
          <p:cNvSpPr/>
          <p:nvPr/>
        </p:nvSpPr>
        <p:spPr>
          <a:xfrm>
            <a:off x="731520" y="1371600"/>
            <a:ext cx="5257800" cy="1874519"/>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36192"/>
            <a:ext cx="4800600" cy="1554479"/>
          </a:xfrm>
          <a:prstGeom prst="rect">
            <a:avLst/>
          </a:prstGeom>
          <a:noFill/>
        </p:spPr>
        <p:txBody>
          <a:bodyPr wrap="square">
            <a:spAutoFit/>
          </a:bodyPr>
          <a:lstStyle/>
          <a:p>
            <a:pPr>
              <a:defRPr b="1" sz="1150">
                <a:solidFill>
                  <a:srgbClr val="F59E0B"/>
                </a:solidFill>
              </a:defRPr>
            </a:pPr>
            <a:r>
              <a:t>⚠️  1. Rate Slippage Break (BMCE Bank of Africa)</a:t>
            </a:r>
          </a:p>
          <a:p>
            <a:pPr>
              <a:spcBef>
                <a:spcPts val="400"/>
              </a:spcBef>
              <a:defRPr sz="950">
                <a:solidFill>
                  <a:srgbClr val="CCD6F6"/>
                </a:solidFill>
              </a:defRPr>
            </a:pPr>
            <a:r>
              <a:t>FO booked EUR/MAD @ 10.7950, BO confirmed @ 10.7985 (+35 pips).</a:t>
            </a:r>
            <a:br/>
            <a:r>
              <a:t>Financial Impact: -2,450 MAD fee discrepancy between trader ticket and bank SWIFT.</a:t>
            </a:r>
          </a:p>
        </p:txBody>
      </p:sp>
      <p:sp>
        <p:nvSpPr>
          <p:cNvPr id="7" name="Rounded Rectangle 6"/>
          <p:cNvSpPr/>
          <p:nvPr/>
        </p:nvSpPr>
        <p:spPr>
          <a:xfrm>
            <a:off x="6172200" y="1371600"/>
            <a:ext cx="5257800" cy="1874519"/>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36192"/>
            <a:ext cx="4800600" cy="1554479"/>
          </a:xfrm>
          <a:prstGeom prst="rect">
            <a:avLst/>
          </a:prstGeom>
          <a:noFill/>
        </p:spPr>
        <p:txBody>
          <a:bodyPr wrap="square">
            <a:spAutoFit/>
          </a:bodyPr>
          <a:lstStyle/>
          <a:p>
            <a:pPr>
              <a:defRPr b="1" sz="1150">
                <a:solidFill>
                  <a:srgbClr val="F43F5E"/>
                </a:solidFill>
              </a:defRPr>
            </a:pPr>
            <a:r>
              <a:t>❌  2. Nominal Mismatch Break (Attijariwafa Bank)</a:t>
            </a:r>
          </a:p>
          <a:p>
            <a:pPr>
              <a:spcBef>
                <a:spcPts val="400"/>
              </a:spcBef>
              <a:defRPr sz="950">
                <a:solidFill>
                  <a:srgbClr val="CCD6F6"/>
                </a:solidFill>
              </a:defRPr>
            </a:pPr>
            <a:r>
              <a:t>FO booked 1,500,000 USD, BO settled only 1,400,000 USD (-100k USD cut).</a:t>
            </a:r>
            <a:br/>
            <a:r>
              <a:t>Root Cause: Counterparty intraday credit ceiling was capped during business hours.</a:t>
            </a:r>
          </a:p>
        </p:txBody>
      </p:sp>
      <p:sp>
        <p:nvSpPr>
          <p:cNvPr id="9" name="Rounded Rectangle 8"/>
          <p:cNvSpPr/>
          <p:nvPr/>
        </p:nvSpPr>
        <p:spPr>
          <a:xfrm>
            <a:off x="731520" y="3429000"/>
            <a:ext cx="5257800" cy="1874519"/>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593592"/>
            <a:ext cx="4800600" cy="1554479"/>
          </a:xfrm>
          <a:prstGeom prst="rect">
            <a:avLst/>
          </a:prstGeom>
          <a:noFill/>
        </p:spPr>
        <p:txBody>
          <a:bodyPr wrap="square">
            <a:spAutoFit/>
          </a:bodyPr>
          <a:lstStyle/>
          <a:p>
            <a:pPr>
              <a:defRPr b="1" sz="1150">
                <a:solidFill>
                  <a:srgbClr val="F43F5E"/>
                </a:solidFill>
              </a:defRPr>
            </a:pPr>
            <a:r>
              <a:t>⏳  3. Unconfirmed SWIFT MT300 (BNP Paribas Paris)</a:t>
            </a:r>
          </a:p>
          <a:p>
            <a:pPr>
              <a:spcBef>
                <a:spcPts val="400"/>
              </a:spcBef>
              <a:defRPr sz="950">
                <a:solidFill>
                  <a:srgbClr val="CCD6F6"/>
                </a:solidFill>
              </a:defRPr>
            </a:pPr>
            <a:r>
              <a:t>Deal entered at 17:15 near close; no confirmation received before cutoff.</a:t>
            </a:r>
            <a:br/>
            <a:r>
              <a:t>Operational Risk: Unhedged overnight currency exposure with zero legal affirmation.</a:t>
            </a:r>
          </a:p>
        </p:txBody>
      </p:sp>
      <p:sp>
        <p:nvSpPr>
          <p:cNvPr id="11" name="Rounded Rectangle 10"/>
          <p:cNvSpPr/>
          <p:nvPr/>
        </p:nvSpPr>
        <p:spPr>
          <a:xfrm>
            <a:off x="6172200" y="3429000"/>
            <a:ext cx="5257800" cy="1874519"/>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593592"/>
            <a:ext cx="4800600" cy="1554479"/>
          </a:xfrm>
          <a:prstGeom prst="rect">
            <a:avLst/>
          </a:prstGeom>
          <a:noFill/>
        </p:spPr>
        <p:txBody>
          <a:bodyPr wrap="square">
            <a:spAutoFit/>
          </a:bodyPr>
          <a:lstStyle/>
          <a:p>
            <a:pPr>
              <a:defRPr b="1" sz="1150">
                <a:solidFill>
                  <a:srgbClr val="38BDF8"/>
                </a:solidFill>
              </a:defRPr>
            </a:pPr>
            <a:r>
              <a:t>👻  4. Orphan Settlement Record (Barclays Bank London)</a:t>
            </a:r>
          </a:p>
          <a:p>
            <a:pPr>
              <a:spcBef>
                <a:spcPts val="400"/>
              </a:spcBef>
              <a:defRPr sz="950">
                <a:solidFill>
                  <a:srgbClr val="CCD6F6"/>
                </a:solidFill>
              </a:defRPr>
            </a:pPr>
            <a:r>
              <a:t>Back-Office received a confirmed MT300 settlement for 300k GBP with NO FO ticket.</a:t>
            </a:r>
            <a:br/>
            <a:r>
              <a:t>Compliance Flag: Detects unrecorded dealer trades or missing Front-Office booking.</a:t>
            </a:r>
          </a:p>
        </p:txBody>
      </p:sp>
      <p:sp>
        <p:nvSpPr>
          <p:cNvPr id="13" name="Rounded Rectangle 12"/>
          <p:cNvSpPr/>
          <p:nvPr/>
        </p:nvSpPr>
        <p:spPr>
          <a:xfrm>
            <a:off x="731520" y="5532120"/>
            <a:ext cx="10728655" cy="777240"/>
          </a:xfrm>
          <a:prstGeom prst="roundRect">
            <a:avLst/>
          </a:prstGeom>
          <a:solidFill>
            <a:srgbClr val="0F1E38"/>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594360"/>
          </a:xfrm>
          <a:prstGeom prst="rect">
            <a:avLst/>
          </a:prstGeom>
          <a:noFill/>
        </p:spPr>
        <p:txBody>
          <a:bodyPr wrap="square">
            <a:spAutoFit/>
          </a:bodyPr>
          <a:lstStyle/>
          <a:p>
            <a:pPr>
              <a:defRPr b="1" sz="1050">
                <a:solidFill>
                  <a:srgbClr val="F8FAFC"/>
                </a:solidFill>
              </a:defRPr>
            </a:pPr>
            <a:r>
              <a:t>Audit Summary: 13 Clean Matched Trades (OCP, Renault, BCP) · 4 Isolated Discrepancies · 1-Click Excel Audit Package (.xlsx)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F8FAFC"/>
                </a:solidFill>
                <a:latin typeface="Arial"/>
              </a:defRPr>
            </a:pPr>
            <a:r>
              <a:t>06  /  Pipeline Orchestration — Apache Airflow DAG</a:t>
            </a:r>
          </a:p>
        </p:txBody>
      </p:sp>
      <p:sp>
        <p:nvSpPr>
          <p:cNvPr id="3" name="Rounded Rectangle 2"/>
          <p:cNvSpPr/>
          <p:nvPr/>
        </p:nvSpPr>
        <p:spPr>
          <a:xfrm>
            <a:off x="960120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UIR ]</a:t>
            </a:r>
          </a:p>
        </p:txBody>
      </p:sp>
      <p:sp>
        <p:nvSpPr>
          <p:cNvPr id="4" name="Rounded Rectangle 3"/>
          <p:cNvSpPr/>
          <p:nvPr/>
        </p:nvSpPr>
        <p:spPr>
          <a:xfrm>
            <a:off x="1060704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DXC ]</a:t>
            </a:r>
          </a:p>
        </p:txBody>
      </p:sp>
      <p:sp>
        <p:nvSpPr>
          <p:cNvPr id="5" name="Rounded Rectangle 4"/>
          <p:cNvSpPr/>
          <p:nvPr/>
        </p:nvSpPr>
        <p:spPr>
          <a:xfrm>
            <a:off x="731520" y="1371600"/>
            <a:ext cx="10728655" cy="822960"/>
          </a:xfrm>
          <a:prstGeom prst="roundRect">
            <a:avLst/>
          </a:prstGeom>
          <a:solidFill>
            <a:srgbClr val="0F1E38"/>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63040"/>
            <a:ext cx="10149840" cy="640080"/>
          </a:xfrm>
          <a:prstGeom prst="rect">
            <a:avLst/>
          </a:prstGeom>
          <a:noFill/>
        </p:spPr>
        <p:txBody>
          <a:bodyPr wrap="square">
            <a:spAutoFit/>
          </a:bodyPr>
          <a:lstStyle/>
          <a:p>
            <a:pPr>
              <a:defRPr b="1" sz="1200">
                <a:solidFill>
                  <a:srgbClr val="38BDF8"/>
                </a:solidFill>
              </a:defRPr>
            </a:pPr>
            <a:r>
              <a:t>Scheduled at 15:35 Daily (CRON: 35 15 * * 1-5) — Triggered 5 Minutes After Bank Al-Maghrib Fixing</a:t>
            </a:r>
          </a:p>
        </p:txBody>
      </p:sp>
      <p:sp>
        <p:nvSpPr>
          <p:cNvPr id="7" name="Rounded Rectangle 6"/>
          <p:cNvSpPr/>
          <p:nvPr/>
        </p:nvSpPr>
        <p:spPr>
          <a:xfrm>
            <a:off x="731520" y="2377440"/>
            <a:ext cx="2011680" cy="29260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14600"/>
            <a:ext cx="1737360" cy="2651760"/>
          </a:xfrm>
          <a:prstGeom prst="rect">
            <a:avLst/>
          </a:prstGeom>
          <a:noFill/>
        </p:spPr>
        <p:txBody>
          <a:bodyPr wrap="square">
            <a:spAutoFit/>
          </a:bodyPr>
          <a:lstStyle/>
          <a:p>
            <a:pPr>
              <a:defRPr sz="1100" b="1">
                <a:solidFill>
                  <a:srgbClr val="38BDF8"/>
                </a:solidFill>
              </a:defRPr>
            </a:pPr>
            <a:r>
              <a:t>Task 1</a:t>
            </a:r>
          </a:p>
          <a:p>
            <a:pPr>
              <a:spcBef>
                <a:spcPts val="200"/>
              </a:spcBef>
              <a:defRPr sz="950" b="1">
                <a:solidFill>
                  <a:srgbClr val="8892B0"/>
                </a:solidFill>
              </a:defRPr>
            </a:pPr>
            <a:r>
              <a:t>Sensor</a:t>
            </a:r>
          </a:p>
          <a:p>
            <a:pPr>
              <a:spcBef>
                <a:spcPts val="400"/>
              </a:spcBef>
              <a:defRPr sz="900" b="1">
                <a:solidFill>
                  <a:srgbClr val="F8FAFC"/>
                </a:solidFill>
                <a:latin typeface="Consolas"/>
              </a:defRPr>
            </a:pPr>
            <a:r>
              <a:t>wait_for_bam_fixing</a:t>
            </a:r>
          </a:p>
          <a:p>
            <a:pPr>
              <a:spcBef>
                <a:spcPts val="400"/>
              </a:spcBef>
              <a:defRPr sz="850">
                <a:solidFill>
                  <a:srgbClr val="CCD6F6"/>
                </a:solidFill>
              </a:defRPr>
            </a:pPr>
            <a:r>
              <a:t>Polls BAM fixing table.</a:t>
            </a:r>
            <a:br/>
            <a:r>
              <a:t>Retries with exponential backoff if publication delayed.</a:t>
            </a:r>
          </a:p>
        </p:txBody>
      </p:sp>
      <p:sp>
        <p:nvSpPr>
          <p:cNvPr id="9" name="Rounded Rectangle 8"/>
          <p:cNvSpPr/>
          <p:nvPr/>
        </p:nvSpPr>
        <p:spPr>
          <a:xfrm>
            <a:off x="2907791" y="2377440"/>
            <a:ext cx="2011680" cy="29260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4951" y="2514600"/>
            <a:ext cx="1737360" cy="2651760"/>
          </a:xfrm>
          <a:prstGeom prst="rect">
            <a:avLst/>
          </a:prstGeom>
          <a:noFill/>
        </p:spPr>
        <p:txBody>
          <a:bodyPr wrap="square">
            <a:spAutoFit/>
          </a:bodyPr>
          <a:lstStyle/>
          <a:p>
            <a:pPr>
              <a:defRPr sz="1100" b="1">
                <a:solidFill>
                  <a:srgbClr val="38BDF8"/>
                </a:solidFill>
              </a:defRPr>
            </a:pPr>
            <a:r>
              <a:t>Task 2</a:t>
            </a:r>
          </a:p>
          <a:p>
            <a:pPr>
              <a:spcBef>
                <a:spcPts val="200"/>
              </a:spcBef>
              <a:defRPr sz="950" b="1">
                <a:solidFill>
                  <a:srgbClr val="8892B0"/>
                </a:solidFill>
              </a:defRPr>
            </a:pPr>
            <a:r>
              <a:t>Ingestion</a:t>
            </a:r>
          </a:p>
          <a:p>
            <a:pPr>
              <a:spcBef>
                <a:spcPts val="400"/>
              </a:spcBef>
              <a:defRPr sz="900" b="1">
                <a:solidFill>
                  <a:srgbClr val="F8FAFC"/>
                </a:solidFill>
                <a:latin typeface="Consolas"/>
              </a:defRPr>
            </a:pPr>
            <a:r>
              <a:t>ingest_eod_trades</a:t>
            </a:r>
          </a:p>
          <a:p>
            <a:pPr>
              <a:spcBef>
                <a:spcPts val="400"/>
              </a:spcBef>
              <a:defRPr sz="850">
                <a:solidFill>
                  <a:srgbClr val="CCD6F6"/>
                </a:solidFill>
              </a:defRPr>
            </a:pPr>
            <a:r>
              <a:t>PythonOperator ingests FO tickets and BO SWIFT records into Bronze.</a:t>
            </a:r>
          </a:p>
        </p:txBody>
      </p:sp>
      <p:sp>
        <p:nvSpPr>
          <p:cNvPr id="11" name="Rounded Rectangle 10"/>
          <p:cNvSpPr/>
          <p:nvPr/>
        </p:nvSpPr>
        <p:spPr>
          <a:xfrm>
            <a:off x="5084064" y="2377440"/>
            <a:ext cx="2011680" cy="29260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21224" y="2514600"/>
            <a:ext cx="1737360" cy="2651760"/>
          </a:xfrm>
          <a:prstGeom prst="rect">
            <a:avLst/>
          </a:prstGeom>
          <a:noFill/>
        </p:spPr>
        <p:txBody>
          <a:bodyPr wrap="square">
            <a:spAutoFit/>
          </a:bodyPr>
          <a:lstStyle/>
          <a:p>
            <a:pPr>
              <a:defRPr sz="1100" b="1">
                <a:solidFill>
                  <a:srgbClr val="F59E0B"/>
                </a:solidFill>
              </a:defRPr>
            </a:pPr>
            <a:r>
              <a:t>Task 3</a:t>
            </a:r>
          </a:p>
          <a:p>
            <a:pPr>
              <a:spcBef>
                <a:spcPts val="200"/>
              </a:spcBef>
              <a:defRPr sz="950" b="1">
                <a:solidFill>
                  <a:srgbClr val="8892B0"/>
                </a:solidFill>
              </a:defRPr>
            </a:pPr>
            <a:r>
              <a:t>dbt Mart</a:t>
            </a:r>
          </a:p>
          <a:p>
            <a:pPr>
              <a:spcBef>
                <a:spcPts val="400"/>
              </a:spcBef>
              <a:defRPr sz="900" b="1">
                <a:solidFill>
                  <a:srgbClr val="F8FAFC"/>
                </a:solidFill>
                <a:latin typeface="Consolas"/>
              </a:defRPr>
            </a:pPr>
            <a:r>
              <a:t>dbt_run_models</a:t>
            </a:r>
          </a:p>
          <a:p>
            <a:pPr>
              <a:spcBef>
                <a:spcPts val="400"/>
              </a:spcBef>
              <a:defRPr sz="850">
                <a:solidFill>
                  <a:srgbClr val="CCD6F6"/>
                </a:solidFill>
              </a:defRPr>
            </a:pPr>
            <a:r>
              <a:t>BashOperator executes fact_trade_mtm SQL transformations.</a:t>
            </a:r>
          </a:p>
        </p:txBody>
      </p:sp>
      <p:sp>
        <p:nvSpPr>
          <p:cNvPr id="13" name="Rounded Rectangle 12"/>
          <p:cNvSpPr/>
          <p:nvPr/>
        </p:nvSpPr>
        <p:spPr>
          <a:xfrm>
            <a:off x="7260336" y="2377440"/>
            <a:ext cx="2011680" cy="29260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97496" y="2514600"/>
            <a:ext cx="1737360" cy="2651760"/>
          </a:xfrm>
          <a:prstGeom prst="rect">
            <a:avLst/>
          </a:prstGeom>
          <a:noFill/>
        </p:spPr>
        <p:txBody>
          <a:bodyPr wrap="square">
            <a:spAutoFit/>
          </a:bodyPr>
          <a:lstStyle/>
          <a:p>
            <a:pPr>
              <a:defRPr sz="1100" b="1">
                <a:solidFill>
                  <a:srgbClr val="F43F5E"/>
                </a:solidFill>
              </a:defRPr>
            </a:pPr>
            <a:r>
              <a:t>Task 4</a:t>
            </a:r>
          </a:p>
          <a:p>
            <a:pPr>
              <a:spcBef>
                <a:spcPts val="200"/>
              </a:spcBef>
              <a:defRPr sz="950" b="1">
                <a:solidFill>
                  <a:srgbClr val="8892B0"/>
                </a:solidFill>
              </a:defRPr>
            </a:pPr>
            <a:r>
              <a:t>Quality Gate</a:t>
            </a:r>
          </a:p>
          <a:p>
            <a:pPr>
              <a:spcBef>
                <a:spcPts val="400"/>
              </a:spcBef>
              <a:defRPr sz="900" b="1">
                <a:solidFill>
                  <a:srgbClr val="F8FAFC"/>
                </a:solidFill>
                <a:latin typeface="Consolas"/>
              </a:defRPr>
            </a:pPr>
            <a:r>
              <a:t>dbt_test_integrity</a:t>
            </a:r>
          </a:p>
          <a:p>
            <a:pPr>
              <a:spcBef>
                <a:spcPts val="400"/>
              </a:spcBef>
              <a:defRPr sz="850">
                <a:solidFill>
                  <a:srgbClr val="CCD6F6"/>
                </a:solidFill>
              </a:defRPr>
            </a:pPr>
            <a:r>
              <a:t>Circuit-breaker test: Halts DAG if BR1–BR4 or uniqueness fails.</a:t>
            </a:r>
          </a:p>
        </p:txBody>
      </p:sp>
      <p:sp>
        <p:nvSpPr>
          <p:cNvPr id="15" name="Rounded Rectangle 14"/>
          <p:cNvSpPr/>
          <p:nvPr/>
        </p:nvSpPr>
        <p:spPr>
          <a:xfrm>
            <a:off x="9436608" y="2377440"/>
            <a:ext cx="2011680" cy="292608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3768" y="2514600"/>
            <a:ext cx="1737360" cy="2651760"/>
          </a:xfrm>
          <a:prstGeom prst="rect">
            <a:avLst/>
          </a:prstGeom>
          <a:noFill/>
        </p:spPr>
        <p:txBody>
          <a:bodyPr wrap="square">
            <a:spAutoFit/>
          </a:bodyPr>
          <a:lstStyle/>
          <a:p>
            <a:pPr>
              <a:defRPr sz="1100" b="1">
                <a:solidFill>
                  <a:srgbClr val="10B981"/>
                </a:solidFill>
              </a:defRPr>
            </a:pPr>
            <a:r>
              <a:t>Task 5</a:t>
            </a:r>
          </a:p>
          <a:p>
            <a:pPr>
              <a:spcBef>
                <a:spcPts val="200"/>
              </a:spcBef>
              <a:defRPr sz="950" b="1">
                <a:solidFill>
                  <a:srgbClr val="8892B0"/>
                </a:solidFill>
              </a:defRPr>
            </a:pPr>
            <a:r>
              <a:t>Calculation</a:t>
            </a:r>
          </a:p>
          <a:p>
            <a:pPr>
              <a:spcBef>
                <a:spcPts val="400"/>
              </a:spcBef>
              <a:defRPr sz="900" b="1">
                <a:solidFill>
                  <a:srgbClr val="F8FAFC"/>
                </a:solidFill>
                <a:latin typeface="Consolas"/>
              </a:defRPr>
            </a:pPr>
            <a:r>
              <a:t>compute_pnl_engine</a:t>
            </a:r>
          </a:p>
          <a:p>
            <a:pPr>
              <a:spcBef>
                <a:spcPts val="400"/>
              </a:spcBef>
              <a:defRPr sz="850">
                <a:solidFill>
                  <a:srgbClr val="CCD6F6"/>
                </a:solidFill>
              </a:defRPr>
            </a:pPr>
            <a:r>
              <a:t>Executes Python FIFO queue, updates daily_pnl &amp; generates Excel.</a:t>
            </a:r>
          </a:p>
        </p:txBody>
      </p:sp>
      <p:sp>
        <p:nvSpPr>
          <p:cNvPr id="17" name="Rounded Rectangle 16"/>
          <p:cNvSpPr/>
          <p:nvPr/>
        </p:nvSpPr>
        <p:spPr>
          <a:xfrm>
            <a:off x="731520" y="5486400"/>
            <a:ext cx="10728655" cy="82296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596128"/>
            <a:ext cx="10149840" cy="594360"/>
          </a:xfrm>
          <a:prstGeom prst="rect">
            <a:avLst/>
          </a:prstGeom>
          <a:noFill/>
        </p:spPr>
        <p:txBody>
          <a:bodyPr wrap="square">
            <a:spAutoFit/>
          </a:bodyPr>
          <a:lstStyle/>
          <a:p>
            <a:pPr>
              <a:defRPr b="1" sz="1050">
                <a:solidFill>
                  <a:srgbClr val="F8FAFC"/>
                </a:solidFill>
              </a:defRPr>
            </a:pPr>
            <a:r>
              <a:t>Production Guarantees: Idempotent re-runs without duplicate rows · Circuit-breaker error handling · Automatic SQLite fallback.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F8FAFC"/>
                </a:solidFill>
                <a:latin typeface="Arial"/>
              </a:defRPr>
            </a:pPr>
            <a:r>
              <a:t>07  /  Automated Testing &amp; Data Contracts (10/10 PASS)</a:t>
            </a:r>
          </a:p>
        </p:txBody>
      </p:sp>
      <p:sp>
        <p:nvSpPr>
          <p:cNvPr id="3" name="Rounded Rectangle 2"/>
          <p:cNvSpPr/>
          <p:nvPr/>
        </p:nvSpPr>
        <p:spPr>
          <a:xfrm>
            <a:off x="960120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UIR ]</a:t>
            </a:r>
          </a:p>
        </p:txBody>
      </p:sp>
      <p:sp>
        <p:nvSpPr>
          <p:cNvPr id="4" name="Rounded Rectangle 3"/>
          <p:cNvSpPr/>
          <p:nvPr/>
        </p:nvSpPr>
        <p:spPr>
          <a:xfrm>
            <a:off x="1060704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DXC ]</a:t>
            </a:r>
          </a:p>
        </p:txBody>
      </p:sp>
      <p:sp>
        <p:nvSpPr>
          <p:cNvPr id="5" name="Rounded Rectangle 4"/>
          <p:cNvSpPr/>
          <p:nvPr/>
        </p:nvSpPr>
        <p:spPr>
          <a:xfrm>
            <a:off x="731520" y="1371600"/>
            <a:ext cx="5257800" cy="493776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4800600" cy="4572000"/>
          </a:xfrm>
          <a:prstGeom prst="rect">
            <a:avLst/>
          </a:prstGeom>
          <a:noFill/>
        </p:spPr>
        <p:txBody>
          <a:bodyPr wrap="square">
            <a:spAutoFit/>
          </a:bodyPr>
          <a:lstStyle/>
          <a:p>
            <a:pPr>
              <a:defRPr b="1" sz="1300">
                <a:solidFill>
                  <a:srgbClr val="10B981"/>
                </a:solidFill>
              </a:defRPr>
            </a:pPr>
            <a:r>
              <a:t>Pytest Automated Suite (10 Tests in 0.51s)</a:t>
            </a:r>
          </a:p>
          <a:p>
            <a:pPr>
              <a:spcBef>
                <a:spcPts val="300"/>
              </a:spcBef>
              <a:defRPr sz="950" b="1">
                <a:solidFill>
                  <a:srgbClr val="10B981"/>
                </a:solidFill>
                <a:latin typeface="Consolas"/>
              </a:defRPr>
            </a:pPr>
            <a:r>
              <a:t>✔ test_individual_trade_mtm</a:t>
            </a:r>
          </a:p>
          <a:p>
            <a:pPr>
              <a:defRPr sz="850">
                <a:solidFill>
                  <a:srgbClr val="CCD6F6"/>
                </a:solidFill>
              </a:defRPr>
            </a:pPr>
            <a:r>
              <a:t>MTM accuracy on USD/MAD, EUR/MAD, and cross EUR/USD.</a:t>
            </a:r>
          </a:p>
          <a:p>
            <a:pPr>
              <a:spcBef>
                <a:spcPts val="300"/>
              </a:spcBef>
              <a:defRPr sz="950" b="1">
                <a:solidFill>
                  <a:srgbClr val="10B981"/>
                </a:solidFill>
                <a:latin typeface="Consolas"/>
              </a:defRPr>
            </a:pPr>
            <a:r>
              <a:t>✔ test_realized_and_unrealized_split</a:t>
            </a:r>
          </a:p>
          <a:p>
            <a:pPr>
              <a:defRPr sz="850">
                <a:solidFill>
                  <a:srgbClr val="CCD6F6"/>
                </a:solidFill>
              </a:defRPr>
            </a:pPr>
            <a:r>
              <a:t>Exact split: +20k Realized / +59,460 Latent.</a:t>
            </a:r>
          </a:p>
          <a:p>
            <a:pPr>
              <a:spcBef>
                <a:spcPts val="300"/>
              </a:spcBef>
              <a:defRPr sz="950" b="1">
                <a:solidFill>
                  <a:srgbClr val="10B981"/>
                </a:solidFill>
                <a:latin typeface="Consolas"/>
              </a:defRPr>
            </a:pPr>
            <a:r>
              <a:t>✔ test_supporting_example_fifo_vs_cmp</a:t>
            </a:r>
          </a:p>
          <a:p>
            <a:pPr>
              <a:defRPr sz="850">
                <a:solidFill>
                  <a:srgbClr val="CCD6F6"/>
                </a:solidFill>
              </a:defRPr>
            </a:pPr>
            <a:r>
              <a:t>Section 4 validation: +22,000 FIFO vs +18,000 CMP.</a:t>
            </a:r>
          </a:p>
          <a:p>
            <a:pPr>
              <a:spcBef>
                <a:spcPts val="300"/>
              </a:spcBef>
              <a:defRPr sz="950" b="1">
                <a:solidFill>
                  <a:srgbClr val="10B981"/>
                </a:solidFill>
                <a:latin typeface="Consolas"/>
              </a:defRPr>
            </a:pPr>
            <a:r>
              <a:t>✔ test_business_rule_br3_identity</a:t>
            </a:r>
          </a:p>
          <a:p>
            <a:pPr>
              <a:defRPr sz="850">
                <a:solidFill>
                  <a:srgbClr val="CCD6F6"/>
                </a:solidFill>
              </a:defRPr>
            </a:pPr>
            <a:r>
              <a:t>Total = Realized + Latent validated across 100 random deals.</a:t>
            </a:r>
          </a:p>
          <a:p>
            <a:pPr>
              <a:spcBef>
                <a:spcPts val="300"/>
              </a:spcBef>
              <a:defRPr sz="950" b="1">
                <a:solidFill>
                  <a:srgbClr val="10B981"/>
                </a:solidFill>
                <a:latin typeface="Consolas"/>
              </a:defRPr>
            </a:pPr>
            <a:r>
              <a:t>✔ test_reconciliation_exact_matches</a:t>
            </a:r>
          </a:p>
          <a:p>
            <a:pPr>
              <a:defRPr sz="850">
                <a:solidFill>
                  <a:srgbClr val="CCD6F6"/>
                </a:solidFill>
              </a:defRPr>
            </a:pPr>
            <a:r>
              <a:t>0 false positives on clean matched trades.</a:t>
            </a:r>
          </a:p>
          <a:p>
            <a:pPr>
              <a:spcBef>
                <a:spcPts val="300"/>
              </a:spcBef>
              <a:defRPr sz="950" b="1">
                <a:solidFill>
                  <a:srgbClr val="10B981"/>
                </a:solidFill>
                <a:latin typeface="Consolas"/>
              </a:defRPr>
            </a:pPr>
            <a:r>
              <a:t>✔ test_reconciliation_rate_slippage</a:t>
            </a:r>
          </a:p>
          <a:p>
            <a:pPr>
              <a:defRPr sz="850">
                <a:solidFill>
                  <a:srgbClr val="CCD6F6"/>
                </a:solidFill>
              </a:defRPr>
            </a:pPr>
            <a:r>
              <a:t>Pip-level variance detection and MAD calculation.</a:t>
            </a:r>
          </a:p>
          <a:p>
            <a:pPr>
              <a:spcBef>
                <a:spcPts val="300"/>
              </a:spcBef>
              <a:defRPr sz="950" b="1">
                <a:solidFill>
                  <a:srgbClr val="10B981"/>
                </a:solidFill>
                <a:latin typeface="Consolas"/>
              </a:defRPr>
            </a:pPr>
            <a:r>
              <a:t>✔ test_reconciliation_nominal_mismatch</a:t>
            </a:r>
          </a:p>
          <a:p>
            <a:pPr>
              <a:defRPr sz="850">
                <a:solidFill>
                  <a:srgbClr val="CCD6F6"/>
                </a:solidFill>
              </a:defRPr>
            </a:pPr>
            <a:r>
              <a:t>Partial fill and credit ceiling break detection.</a:t>
            </a:r>
          </a:p>
          <a:p>
            <a:pPr>
              <a:spcBef>
                <a:spcPts val="300"/>
              </a:spcBef>
              <a:defRPr sz="950" b="1">
                <a:solidFill>
                  <a:srgbClr val="10B981"/>
                </a:solidFill>
                <a:latin typeface="Consolas"/>
              </a:defRPr>
            </a:pPr>
            <a:r>
              <a:t>✔ test_reconciliation_unconfirmed_trade</a:t>
            </a:r>
          </a:p>
          <a:p>
            <a:pPr>
              <a:defRPr sz="850">
                <a:solidFill>
                  <a:srgbClr val="CCD6F6"/>
                </a:solidFill>
              </a:defRPr>
            </a:pPr>
            <a:r>
              <a:t>Unconfirmed SWIFT MT300 ghost trade flagging.</a:t>
            </a:r>
          </a:p>
        </p:txBody>
      </p:sp>
      <p:sp>
        <p:nvSpPr>
          <p:cNvPr id="7" name="Rounded Rectangle 6"/>
          <p:cNvSpPr/>
          <p:nvPr/>
        </p:nvSpPr>
        <p:spPr>
          <a:xfrm>
            <a:off x="6217920" y="1371600"/>
            <a:ext cx="5257800" cy="493776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800600" cy="4572000"/>
          </a:xfrm>
          <a:prstGeom prst="rect">
            <a:avLst/>
          </a:prstGeom>
          <a:noFill/>
        </p:spPr>
        <p:txBody>
          <a:bodyPr wrap="square">
            <a:spAutoFit/>
          </a:bodyPr>
          <a:lstStyle/>
          <a:p>
            <a:pPr>
              <a:defRPr b="1" sz="1300">
                <a:solidFill>
                  <a:srgbClr val="38BDF8"/>
                </a:solidFill>
              </a:defRPr>
            </a:pPr>
            <a:r>
              <a:t>dbt Automated Data Contracts (Report Table 8.1)</a:t>
            </a:r>
          </a:p>
          <a:p>
            <a:pPr>
              <a:spcBef>
                <a:spcPts val="600"/>
              </a:spcBef>
              <a:defRPr b="1" sz="1050">
                <a:solidFill>
                  <a:srgbClr val="F8FAFC"/>
                </a:solidFill>
              </a:defRPr>
            </a:pPr>
            <a:r>
              <a:t>• BR1: BAM Rate Conversion  [PASS]</a:t>
            </a:r>
          </a:p>
          <a:p>
            <a:pPr>
              <a:defRPr sz="900">
                <a:solidFill>
                  <a:srgbClr val="8892B0"/>
                </a:solidFill>
              </a:defRPr>
            </a:pPr>
            <a:r>
              <a:t>Guarantees all foreign pairs convert to MAD; rejects null or negative rates.</a:t>
            </a:r>
          </a:p>
          <a:p>
            <a:pPr>
              <a:spcBef>
                <a:spcPts val="600"/>
              </a:spcBef>
              <a:defRPr b="1" sz="1050">
                <a:solidFill>
                  <a:srgbClr val="F8FAFC"/>
                </a:solidFill>
              </a:defRPr>
            </a:pPr>
            <a:r>
              <a:t>• BR2: Rate Revaluation  [PASS]</a:t>
            </a:r>
          </a:p>
          <a:p>
            <a:pPr>
              <a:defRPr sz="900">
                <a:solidFill>
                  <a:srgbClr val="8892B0"/>
                </a:solidFill>
              </a:defRPr>
            </a:pPr>
            <a:r>
              <a:t>Verifies all open tickets are revalued at today's official BAM fixing.</a:t>
            </a:r>
          </a:p>
          <a:p>
            <a:pPr>
              <a:spcBef>
                <a:spcPts val="600"/>
              </a:spcBef>
              <a:defRPr b="1" sz="1050">
                <a:solidFill>
                  <a:srgbClr val="F8FAFC"/>
                </a:solidFill>
              </a:defRPr>
            </a:pPr>
            <a:r>
              <a:t>• BR3: Accounting Equality  [PASS]</a:t>
            </a:r>
          </a:p>
          <a:p>
            <a:pPr>
              <a:defRPr sz="900">
                <a:solidFill>
                  <a:srgbClr val="8892B0"/>
                </a:solidFill>
              </a:defRPr>
            </a:pPr>
            <a:r>
              <a:t>Singular SQL test: SELECT * WHERE ROUND(total) != ROUND(realized + latent). Returns 0 rows.</a:t>
            </a:r>
          </a:p>
          <a:p>
            <a:pPr>
              <a:spcBef>
                <a:spcPts val="600"/>
              </a:spcBef>
              <a:defRPr b="1" sz="1050">
                <a:solidFill>
                  <a:srgbClr val="F8FAFC"/>
                </a:solidFill>
              </a:defRPr>
            </a:pPr>
            <a:r>
              <a:t>• BR4: Chronological Lot Order  [PASS]</a:t>
            </a:r>
          </a:p>
          <a:p>
            <a:pPr>
              <a:defRPr sz="900">
                <a:solidFill>
                  <a:srgbClr val="8892B0"/>
                </a:solidFill>
              </a:defRPr>
            </a:pPr>
            <a:r>
              <a:t>Verifies queue unwinding cannot consume a newer lot before earlier timestamped lots.</a:t>
            </a:r>
          </a:p>
          <a:p>
            <a:pPr>
              <a:spcBef>
                <a:spcPts val="600"/>
              </a:spcBef>
              <a:defRPr b="1" sz="1050">
                <a:solidFill>
                  <a:srgbClr val="F8FAFC"/>
                </a:solidFill>
              </a:defRPr>
            </a:pPr>
            <a:r>
              <a:t>• source_ref Uniqueness  [PASS]</a:t>
            </a:r>
          </a:p>
          <a:p>
            <a:pPr>
              <a:defRPr sz="900">
                <a:solidFill>
                  <a:srgbClr val="8892B0"/>
                </a:solidFill>
              </a:defRPr>
            </a:pPr>
            <a:r>
              <a:t>Constraint preventing duplicate trade bookings in database.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F8FAFC"/>
                </a:solidFill>
                <a:latin typeface="Arial"/>
              </a:defRPr>
            </a:pPr>
            <a:r>
              <a:t>08  /  Operational Web Terminal — Streamlit Trading Desk</a:t>
            </a:r>
          </a:p>
        </p:txBody>
      </p:sp>
      <p:sp>
        <p:nvSpPr>
          <p:cNvPr id="3" name="Rounded Rectangle 2"/>
          <p:cNvSpPr/>
          <p:nvPr/>
        </p:nvSpPr>
        <p:spPr>
          <a:xfrm>
            <a:off x="960120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UIR ]</a:t>
            </a:r>
          </a:p>
        </p:txBody>
      </p:sp>
      <p:sp>
        <p:nvSpPr>
          <p:cNvPr id="4" name="Rounded Rectangle 3"/>
          <p:cNvSpPr/>
          <p:nvPr/>
        </p:nvSpPr>
        <p:spPr>
          <a:xfrm>
            <a:off x="1060704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DXC ]</a:t>
            </a:r>
          </a:p>
        </p:txBody>
      </p:sp>
      <p:sp>
        <p:nvSpPr>
          <p:cNvPr id="5" name="Rounded Rectangle 4"/>
          <p:cNvSpPr/>
          <p:nvPr/>
        </p:nvSpPr>
        <p:spPr>
          <a:xfrm>
            <a:off x="731520" y="1371600"/>
            <a:ext cx="5257800" cy="22860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4709160" cy="1828800"/>
          </a:xfrm>
          <a:prstGeom prst="rect">
            <a:avLst/>
          </a:prstGeom>
          <a:noFill/>
        </p:spPr>
        <p:txBody>
          <a:bodyPr wrap="square">
            <a:spAutoFit/>
          </a:bodyPr>
          <a:lstStyle/>
          <a:p>
            <a:pPr>
              <a:defRPr b="1" sz="1300">
                <a:solidFill>
                  <a:srgbClr val="10B981"/>
                </a:solidFill>
              </a:defRPr>
            </a:pPr>
            <a:r>
              <a:t>🟢  Live BAM Fixing Strip &amp; Basket</a:t>
            </a:r>
          </a:p>
          <a:p>
            <a:pPr>
              <a:spcBef>
                <a:spcPts val="800"/>
              </a:spcBef>
              <a:defRPr sz="1100">
                <a:solidFill>
                  <a:srgbClr val="CCD6F6"/>
                </a:solidFill>
              </a:defRPr>
            </a:pPr>
            <a:r>
              <a:t>Real-time USD/MAD, EUR/MAD, and central basket (60% EUR + 40% USD) tracking with +/- 5% peg band boundaries.</a:t>
            </a:r>
          </a:p>
        </p:txBody>
      </p:sp>
      <p:sp>
        <p:nvSpPr>
          <p:cNvPr id="7" name="Rounded Rectangle 6"/>
          <p:cNvSpPr/>
          <p:nvPr/>
        </p:nvSpPr>
        <p:spPr>
          <a:xfrm>
            <a:off x="6172200" y="1371600"/>
            <a:ext cx="5257800" cy="22860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00200"/>
            <a:ext cx="4709160" cy="1828800"/>
          </a:xfrm>
          <a:prstGeom prst="rect">
            <a:avLst/>
          </a:prstGeom>
          <a:noFill/>
        </p:spPr>
        <p:txBody>
          <a:bodyPr wrap="square">
            <a:spAutoFit/>
          </a:bodyPr>
          <a:lstStyle/>
          <a:p>
            <a:pPr>
              <a:defRPr b="1" sz="1300">
                <a:solidFill>
                  <a:srgbClr val="38BDF8"/>
                </a:solidFill>
              </a:defRPr>
            </a:pPr>
            <a:r>
              <a:t>🔍  Trade Blotter with Transparent Math</a:t>
            </a:r>
          </a:p>
          <a:p>
            <a:pPr>
              <a:spcBef>
                <a:spcPts val="800"/>
              </a:spcBef>
              <a:defRPr sz="1100">
                <a:solidFill>
                  <a:srgbClr val="CCD6F6"/>
                </a:solidFill>
              </a:defRPr>
            </a:pPr>
            <a:r>
              <a:t>Complete breakdown of each trade showing the exact arithmetic formula in MAD (no black-box calculations).</a:t>
            </a:r>
          </a:p>
        </p:txBody>
      </p:sp>
      <p:sp>
        <p:nvSpPr>
          <p:cNvPr id="9" name="Rounded Rectangle 8"/>
          <p:cNvSpPr/>
          <p:nvPr/>
        </p:nvSpPr>
        <p:spPr>
          <a:xfrm>
            <a:off x="731520" y="3840480"/>
            <a:ext cx="5257800" cy="22860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69080"/>
            <a:ext cx="4709160" cy="1828800"/>
          </a:xfrm>
          <a:prstGeom prst="rect">
            <a:avLst/>
          </a:prstGeom>
          <a:noFill/>
        </p:spPr>
        <p:txBody>
          <a:bodyPr wrap="square">
            <a:spAutoFit/>
          </a:bodyPr>
          <a:lstStyle/>
          <a:p>
            <a:pPr>
              <a:defRPr b="1" sz="1300">
                <a:solidFill>
                  <a:srgbClr val="F59E0B"/>
                </a:solidFill>
              </a:defRPr>
            </a:pPr>
            <a:r>
              <a:t>⚡  Pre-Trade Deal Ticket Simulator</a:t>
            </a:r>
          </a:p>
          <a:p>
            <a:pPr>
              <a:spcBef>
                <a:spcPts val="800"/>
              </a:spcBef>
              <a:defRPr sz="1100">
                <a:solidFill>
                  <a:srgbClr val="CCD6F6"/>
                </a:solidFill>
              </a:defRPr>
            </a:pPr>
            <a:r>
              <a:t>Simulate the instant MTM, MAD exposure, and balance sheet impact of an order before committing it to the book.</a:t>
            </a:r>
          </a:p>
        </p:txBody>
      </p:sp>
      <p:sp>
        <p:nvSpPr>
          <p:cNvPr id="11" name="Rounded Rectangle 10"/>
          <p:cNvSpPr/>
          <p:nvPr/>
        </p:nvSpPr>
        <p:spPr>
          <a:xfrm>
            <a:off x="6172200" y="3840480"/>
            <a:ext cx="5257800" cy="22860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69080"/>
            <a:ext cx="4709160" cy="1828800"/>
          </a:xfrm>
          <a:prstGeom prst="rect">
            <a:avLst/>
          </a:prstGeom>
          <a:noFill/>
        </p:spPr>
        <p:txBody>
          <a:bodyPr wrap="square">
            <a:spAutoFit/>
          </a:bodyPr>
          <a:lstStyle/>
          <a:p>
            <a:pPr>
              <a:defRPr b="1" sz="1300">
                <a:solidFill>
                  <a:srgbClr val="38BDF8"/>
                </a:solidFill>
              </a:defRPr>
            </a:pPr>
            <a:r>
              <a:t>🛡️  FO / BO Dispute Hub &amp; Excel Export</a:t>
            </a:r>
          </a:p>
          <a:p>
            <a:pPr>
              <a:spcBef>
                <a:spcPts val="800"/>
              </a:spcBef>
              <a:defRPr sz="1100">
                <a:solidFill>
                  <a:srgbClr val="CCD6F6"/>
                </a:solidFill>
              </a:defRPr>
            </a:pPr>
            <a:r>
              <a:t>One-click filtering of breaks (slippage, nominal, unconfirmed), discrepancy tags, and instant .xlsx audit download.</a:t>
            </a:r>
          </a:p>
        </p:txBody>
      </p:sp>
      <p:sp>
        <p:nvSpPr>
          <p:cNvPr id="13" name="Rounded Rectangle 12"/>
          <p:cNvSpPr/>
          <p:nvPr/>
        </p:nvSpPr>
        <p:spPr>
          <a:xfrm>
            <a:off x="731520" y="5486400"/>
            <a:ext cx="10728655" cy="822960"/>
          </a:xfrm>
          <a:prstGeom prst="roundRect">
            <a:avLst/>
          </a:prstGeom>
          <a:solidFill>
            <a:srgbClr val="0F1E38"/>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548640"/>
          </a:xfrm>
          <a:prstGeom prst="rect">
            <a:avLst/>
          </a:prstGeom>
          <a:noFill/>
        </p:spPr>
        <p:txBody>
          <a:bodyPr wrap="square">
            <a:spAutoFit/>
          </a:bodyPr>
          <a:lstStyle/>
          <a:p>
            <a:pPr>
              <a:defRPr b="1" sz="1050">
                <a:solidFill>
                  <a:srgbClr val="F8FAFC"/>
                </a:solidFill>
              </a:defRPr>
            </a:pPr>
            <a:r>
              <a:t>Operational Platform: Streamlit Web Terminal · Plotly Visualization · Dual PostgreSQL/SQLite Persistence · Zero Runtime Crashes.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F8FAFC"/>
                </a:solidFill>
                <a:latin typeface="Arial"/>
              </a:defRPr>
            </a:pPr>
            <a:r>
              <a:t>09  /  Conclusion &amp; Evaluation Alignment</a:t>
            </a:r>
          </a:p>
        </p:txBody>
      </p:sp>
      <p:sp>
        <p:nvSpPr>
          <p:cNvPr id="3" name="Rounded Rectangle 2"/>
          <p:cNvSpPr/>
          <p:nvPr/>
        </p:nvSpPr>
        <p:spPr>
          <a:xfrm>
            <a:off x="960120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UIR ]</a:t>
            </a:r>
          </a:p>
        </p:txBody>
      </p:sp>
      <p:sp>
        <p:nvSpPr>
          <p:cNvPr id="4" name="Rounded Rectangle 3"/>
          <p:cNvSpPr/>
          <p:nvPr/>
        </p:nvSpPr>
        <p:spPr>
          <a:xfrm>
            <a:off x="10607040" y="365760"/>
            <a:ext cx="914400" cy="548640"/>
          </a:xfrm>
          <a:prstGeom prst="roundRect">
            <a:avLst/>
          </a:prstGeom>
          <a:solidFill>
            <a:srgbClr val="0F1E38"/>
          </a:solidFill>
          <a:ln w="15240">
            <a:solidFill>
              <a:srgbClr val="233554"/>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8892B0"/>
                </a:solidFill>
                <a:latin typeface="Arial"/>
              </a:defRPr>
            </a:pPr>
            <a:r>
              <a:t>[ DXC ]</a:t>
            </a:r>
          </a:p>
        </p:txBody>
      </p:sp>
      <p:sp>
        <p:nvSpPr>
          <p:cNvPr id="5" name="Rounded Rectangle 4"/>
          <p:cNvSpPr/>
          <p:nvPr/>
        </p:nvSpPr>
        <p:spPr>
          <a:xfrm>
            <a:off x="731520" y="1371600"/>
            <a:ext cx="6217920" cy="41148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08760"/>
            <a:ext cx="5760720" cy="3840480"/>
          </a:xfrm>
          <a:prstGeom prst="rect">
            <a:avLst/>
          </a:prstGeom>
          <a:noFill/>
        </p:spPr>
        <p:txBody>
          <a:bodyPr wrap="square">
            <a:spAutoFit/>
          </a:bodyPr>
          <a:lstStyle/>
          <a:p>
            <a:pPr>
              <a:defRPr b="1" sz="1300">
                <a:solidFill>
                  <a:srgbClr val="38BDF8"/>
                </a:solidFill>
              </a:defRPr>
            </a:pPr>
            <a:r>
              <a:t>Alignment with Evaluation Criteria (Report Table 10.3)</a:t>
            </a:r>
          </a:p>
          <a:p>
            <a:pPr>
              <a:spcBef>
                <a:spcPts val="400"/>
              </a:spcBef>
              <a:defRPr sz="950">
                <a:solidFill>
                  <a:srgbClr val="CCD6F6"/>
                </a:solidFill>
              </a:defRPr>
            </a:pPr>
            <a:r>
              <a:t>✔ 25% Business-Domain Mastery: BAM peg compliance, MTM, Realized/Latent, and brief typo audit correction.</a:t>
            </a:r>
          </a:p>
          <a:p>
            <a:pPr>
              <a:spcBef>
                <a:spcPts val="400"/>
              </a:spcBef>
              <a:defRPr sz="950">
                <a:solidFill>
                  <a:srgbClr val="CCD6F6"/>
                </a:solidFill>
              </a:defRPr>
            </a:pPr>
            <a:r>
              <a:t>✔ 20% Design Quality: Medallion layered pipeline (Bronze/Silver/Gold), ERD with logical lookup.</a:t>
            </a:r>
          </a:p>
          <a:p>
            <a:pPr>
              <a:spcBef>
                <a:spcPts val="400"/>
              </a:spcBef>
              <a:defRPr sz="950">
                <a:solidFill>
                  <a:srgbClr val="CCD6F6"/>
                </a:solidFill>
              </a:defRPr>
            </a:pPr>
            <a:r>
              <a:t>✔ 25% Development Quality: 10/10 automated tests, dbt data contracts, dual PostgreSQL/SQLite storage.</a:t>
            </a:r>
          </a:p>
          <a:p>
            <a:pPr>
              <a:spcBef>
                <a:spcPts val="400"/>
              </a:spcBef>
              <a:defRPr sz="950">
                <a:solidFill>
                  <a:srgbClr val="CCD6F6"/>
                </a:solidFill>
              </a:defRPr>
            </a:pPr>
            <a:r>
              <a:t>✔ 15% Relevance of Results: Validated benchmark (+79,460 MAD) and realistic FO/BO reconciliation breaks.</a:t>
            </a:r>
          </a:p>
          <a:p>
            <a:pPr>
              <a:spcBef>
                <a:spcPts val="400"/>
              </a:spcBef>
              <a:defRPr sz="950">
                <a:solidFill>
                  <a:srgbClr val="CCD6F6"/>
                </a:solidFill>
              </a:defRPr>
            </a:pPr>
            <a:r>
              <a:t>✔ 10% Documentation &amp; Report: Comprehensive 33-page thesis report and reproducible Docker environment.</a:t>
            </a:r>
          </a:p>
          <a:p>
            <a:pPr>
              <a:spcBef>
                <a:spcPts val="400"/>
              </a:spcBef>
              <a:defRPr sz="950">
                <a:solidFill>
                  <a:srgbClr val="CCD6F6"/>
                </a:solidFill>
              </a:defRPr>
            </a:pPr>
            <a:r>
              <a:t>✔ 5% Oral Defense: This presentation!</a:t>
            </a:r>
          </a:p>
        </p:txBody>
      </p:sp>
      <p:sp>
        <p:nvSpPr>
          <p:cNvPr id="7" name="Rounded Rectangle 6"/>
          <p:cNvSpPr/>
          <p:nvPr/>
        </p:nvSpPr>
        <p:spPr>
          <a:xfrm>
            <a:off x="7132320" y="1371600"/>
            <a:ext cx="4327855" cy="4114800"/>
          </a:xfrm>
          <a:prstGeom prst="roundRect">
            <a:avLst/>
          </a:prstGeom>
          <a:solidFill>
            <a:srgbClr val="112240"/>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508760"/>
            <a:ext cx="3870655" cy="3840480"/>
          </a:xfrm>
          <a:prstGeom prst="rect">
            <a:avLst/>
          </a:prstGeom>
          <a:noFill/>
        </p:spPr>
        <p:txBody>
          <a:bodyPr wrap="square">
            <a:spAutoFit/>
          </a:bodyPr>
          <a:lstStyle/>
          <a:p>
            <a:pPr>
              <a:defRPr b="1" sz="1300">
                <a:solidFill>
                  <a:srgbClr val="10B981"/>
                </a:solidFill>
              </a:defRPr>
            </a:pPr>
            <a:r>
              <a:t>Project Summary &amp; Perspectives</a:t>
            </a:r>
          </a:p>
          <a:p>
            <a:pPr>
              <a:spcBef>
                <a:spcPts val="800"/>
              </a:spcBef>
              <a:defRPr sz="1000">
                <a:solidFill>
                  <a:srgbClr val="CCD6F6"/>
                </a:solidFill>
              </a:defRPr>
            </a:pPr>
            <a:r>
              <a:t>• Accomplished: Delivered a fully compliant, tested, and automated FX P&amp;L platform replacing manual Excel sheets at DXC.</a:t>
            </a:r>
          </a:p>
          <a:p>
            <a:pPr>
              <a:spcBef>
                <a:spcPts val="800"/>
              </a:spcBef>
              <a:defRPr sz="1000">
                <a:solidFill>
                  <a:srgbClr val="CCD6F6"/>
                </a:solidFill>
              </a:defRPr>
            </a:pPr>
            <a:r>
              <a:t>• Future Perspectives: Real-time tick streaming with Apache Kafka and direct SWIFT MT300 message network ingestion.</a:t>
            </a:r>
          </a:p>
          <a:p>
            <a:br/>
            <a:pPr>
              <a:spcBef>
                <a:spcPts val="1400"/>
              </a:spcBef>
              <a:defRPr b="1" sz="1400">
                <a:solidFill>
                  <a:srgbClr val="F8FAFC"/>
                </a:solidFill>
              </a:defRPr>
            </a:pPr>
            <a:r>
              <a:t>Thank you for your attention.</a:t>
            </a:r>
            <a:br/>
            <a:r>
              <a:t>Questions &amp; Discussion.</a:t>
            </a:r>
          </a:p>
        </p:txBody>
      </p:sp>
      <p:sp>
        <p:nvSpPr>
          <p:cNvPr id="9" name="Rounded Rectangle 8"/>
          <p:cNvSpPr/>
          <p:nvPr/>
        </p:nvSpPr>
        <p:spPr>
          <a:xfrm>
            <a:off x="731520" y="5623560"/>
            <a:ext cx="10728655" cy="777240"/>
          </a:xfrm>
          <a:prstGeom prst="roundRect">
            <a:avLst/>
          </a:prstGeom>
          <a:solidFill>
            <a:srgbClr val="0F1E38"/>
          </a:solidFill>
          <a:ln w="1397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715000"/>
            <a:ext cx="10149840" cy="594360"/>
          </a:xfrm>
          <a:prstGeom prst="rect">
            <a:avLst/>
          </a:prstGeom>
          <a:noFill/>
        </p:spPr>
        <p:txBody>
          <a:bodyPr wrap="square">
            <a:spAutoFit/>
          </a:bodyPr>
          <a:lstStyle/>
          <a:p>
            <a:pPr>
              <a:defRPr sz="1000" b="1">
                <a:solidFill>
                  <a:srgbClr val="F8FAFC"/>
                </a:solidFill>
                <a:latin typeface="Arial"/>
              </a:defRPr>
            </a:pPr>
            <a:r>
              <a:t>"The goal is not to build the most complex system. It is to build a platform where every calculation is mathematically audited, every break is explained, and the bank is 100% compliant with Bank Al-Maghrib."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