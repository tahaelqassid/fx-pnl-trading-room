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Bonjour messieurs les membres du jury, chers encadrants de DXC Technology et de l'Université Internationale de Rabat.</a:t>
            </a:r>
          </a:p>
          <a:p>
            <a:r>
              <a:t>Je m'appelle Mohamed Taha El Qassid, étudiant en 4ème année Génie des Données (Data Engineering).</a:t>
            </a:r>
          </a:p>
          <a:p>
            <a:r>
              <a:t>J'ai le plaisir de vous présenter aujourd'hui mon projet de fin d'année réalisé au sein de DXC Technology, intitulé :</a:t>
            </a:r>
          </a:p>
          <a:p>
            <a:r>
              <a:t>'Application P&amp;L FX Salle de Marché - Devise Comptable MAD'.</a:t>
            </a:r>
          </a:p>
          <a:p>
            <a:r>
              <a:t>Ce projet a pour objectif de concevoir une plateforme complète d'ingénierie des données pour le calcul automatisé du P&amp;L,</a:t>
            </a:r>
          </a:p>
          <a:p>
            <a:r>
              <a:t>la réconciliation Front-Office / Back-Office, et la conformité stricte avec les règles de Bank Al-Maghrib.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Pour bien comprendre notre projet, il faut poser le contexte métier :</a:t>
            </a:r>
          </a:p>
          <a:p>
            <a:r>
              <a:t>Une salle de marché de change (FX Trading Room) traite quotidiennement des centaines de millions de dirhams.</a:t>
            </a:r>
          </a:p>
          <a:p>
            <a:r>
              <a:t>Des grands groupes marocains comme OCP ou Renault sollicitent la salle pour couvrir leurs importations et exportations.</a:t>
            </a:r>
          </a:p>
          <a:p>
            <a:r>
              <a:t>Le problème majeur réside dans la gestion manuelle : les feuilles Excel deviennent ingérables,</a:t>
            </a:r>
          </a:p>
          <a:p>
            <a:r>
              <a:t>les erreurs de saisie entre le Front-Office et le Back-Office génèrent des écarts financiers,</a:t>
            </a:r>
          </a:p>
          <a:p>
            <a:r>
              <a:t>et la réglementation de Bank Al-Maghrib impose une réévaluation quotidienne stricte en dirhams (MAD).</a:t>
            </a:r>
          </a:p>
          <a:p>
            <a:r>
              <a:t>Notre mission a donc été de concevoir une plateforme d'ingénierie des données robuste pour automatiser cette chaîne.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Sur cette diapositive, nous détaillons le cadre réglementaire de Bank Al-Maghrib :</a:t>
            </a:r>
          </a:p>
          <a:p>
            <a:r>
              <a:t>Le Maroc applique un régime de change à parité glissante lié à un panier composé de 60% d'Euros et 40% de Dollars US.</a:t>
            </a:r>
          </a:p>
          <a:p>
            <a:r>
              <a:t>Depuis 2020, la bande de fluctuation autorisée est de +/- 5% autour du cours central.</a:t>
            </a:r>
          </a:p>
          <a:p>
            <a:r>
              <a:t>Chaque jour à 15h30, Bank Al-Maghrib publie le fixing officiel (le cours de référence).</a:t>
            </a:r>
          </a:p>
          <a:p>
            <a:r>
              <a:t>Toutes les banques marocaines sont légalement tenues de valoriser l'ensemble de leurs livres à ce fixing officiel.</a:t>
            </a:r>
          </a:p>
          <a:p>
            <a:r>
              <a:t>Notre système intègre ce calcul en temps réel et applique un stress-testing automatique sur les bornes de la bande.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Ici, nous abordons les trois piliers du calcul financier :</a:t>
            </a:r>
          </a:p>
          <a:p>
            <a:r>
              <a:t>1. Le Mark-to-Market (MTM) : c'est la valeur de liquidation théorique de chaque transaction au cours de fixing de Bank Al-Maghrib.</a:t>
            </a:r>
          </a:p>
          <a:p>
            <a:r>
              <a:t>2. Le P&amp;L Réalisé : c'est le gain ou la perte définitivement encaissé lors du débouclage d'une position. Il va au Compte de Résultat.</a:t>
            </a:r>
          </a:p>
          <a:p>
            <a:r>
              <a:t>3. Le P&amp;L Latent (Non-réalisé) : c'est la plus ou moins-value potentielle sur les positions encore ouvertes la nuit, stockée au Bilan.</a:t>
            </a:r>
          </a:p>
          <a:p>
            <a:r>
              <a:t>Et voici la règle d'or fondamentale, notre Business Rule BR3 :</a:t>
            </a:r>
          </a:p>
          <a:p>
            <a:r>
              <a:t>Le Total MTM doit TOUJOURS être égal au Réalisé plus le Latent.</a:t>
            </a:r>
          </a:p>
          <a:p>
            <a:r>
              <a:t>Dans notre architecture, cette égalité n'est pas juste théorique : elle est vérifiée par une contrainte CHECK en base de données et des tests automatisés dbt.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Examinons maintenant le cas d'école de référence spécifié dans le cahier des charges :</a:t>
            </a:r>
          </a:p>
          <a:p>
            <a:r>
              <a:t>Quatre transactions exécutées sur deux pupitres (USD_DESK et EUR_DESK) :</a:t>
            </a:r>
          </a:p>
          <a:p>
            <a:r>
              <a:t>- Trade 1 : Achat de 1M USD à 9.92, réévalué à 9.95 -&gt; MTM de +30 000 MAD.</a:t>
            </a:r>
          </a:p>
          <a:p>
            <a:r>
              <a:t>- Trade 2 : Vente de 500k USD à 9.96 -&gt; débouclage de 500k du Trade 1, dégageant un Réalisé de +20 000 MAD et un Latent résiduel de +15 000 MAD.</a:t>
            </a:r>
          </a:p>
          <a:p>
            <a:r>
              <a:t>- Trade 3 : Achat de 800k EUR à 10.77, réévalué à 10.80 -&gt; Latent de +24 000 MAD.</a:t>
            </a:r>
          </a:p>
          <a:p>
            <a:r>
              <a:t>- Trade 4 : Achat de 600k EUR/USD à 1.0820 -&gt; conversion indirecte via le cross synthétique EUR/USD * USD/MAD -&gt; Latent de +20 460 MAD.</a:t>
            </a:r>
          </a:p>
          <a:p>
            <a:r>
              <a:t>Résultat total du portefeuille : MTM = +79 460 MAD, composé exactement de +20 000 MAD de Réalisé et +59 460 MAD de Latent.</a:t>
            </a:r>
          </a:p>
          <a:p>
            <a:r>
              <a:t>L'égalité fondamentale BR3 est vérifiée à 100%.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Cette diapositive illustre une compétence essentielle d'ingénieur des données : l'audit et la validation rigoureuse des algorithmes d'inventaire.</a:t>
            </a:r>
          </a:p>
          <a:p>
            <a:r>
              <a:t>Dans la section 4 du brief, un exemple standard compare le FIFO et le CMP sur 2 achats suivis d'une vente partielle :</a:t>
            </a:r>
          </a:p>
          <a:p>
            <a:r>
              <a:t>En FIFO (standard des progiciels de marché comme Murex), on consomme d'abord le lot 1 (500k à 9.91) dégageant 20 000 MAD,</a:t>
            </a:r>
          </a:p>
          <a:p>
            <a:r>
              <a:t>puis 100k du lot 2 à 9.93 dégageant 2 000 MAD. Le total réalisé est donc de 22 000 MAD.</a:t>
            </a:r>
          </a:p>
          <a:p>
            <a:r>
              <a:t>En CMP (norme comptable marocaine), le coût moyen est de 9.92, dégageant 18 000 MAD.</a:t>
            </a:r>
          </a:p>
          <a:p>
            <a:r>
              <a:t>Point remarquable pour notre soutenance : le texte du brief initial mentionnait 21 500 MAD (19 500 + 2 000) suite à une coquille de frappe.</a:t>
            </a:r>
          </a:p>
          <a:p>
            <a:r>
              <a:t>Notre moteur a recalculé et prouvé que 0.04 * 500k fait exactement 20 000 MAD, rétablissant ainsi la vérité arithmétique de 22 000 MAD.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Passons au module de réconciliation Front-Office / Back-Office, correspondant à l'objectif opérationnel OS6.</a:t>
            </a:r>
          </a:p>
          <a:p>
            <a:r>
              <a:t>Dans une banque, les traders saisissent rapidement leurs tickets au Front-Office, tandis que le Back-Office reçoit les confirmations SWIFT MT300.</a:t>
            </a:r>
          </a:p>
          <a:p>
            <a:r>
              <a:t>Notre moteur teste 4 scénarios d'anomalies réelles :</a:t>
            </a:r>
          </a:p>
          <a:p>
            <a:r>
              <a:t>1. L'écart de cours (Rate Slippage) : sur BMCE, un décalage de 35 pips dû aux frais de courtage interbancaire (-2 450 MAD).</a:t>
            </a:r>
          </a:p>
          <a:p>
            <a:r>
              <a:t>2. L'écart de nominal (Nominal Mismatch) : sur Attijariwafa, 100k USD manquants car la ligne de crédit de la contrepartie était plafonnée.</a:t>
            </a:r>
          </a:p>
          <a:p>
            <a:r>
              <a:t>3. Le trade non confirmé (Unconfirmed SWIFT) : sur BNP Paribas, une opération saisie en fin de journée sans confirmation SWIFT, créant un risque de change ouvert toute la nuit.</a:t>
            </a:r>
          </a:p>
          <a:p>
            <a:r>
              <a:t>4. Le règlement orphelin (Orphan Settlement) : confirmation reçue de Barclays sans aucun ticket Front-Office correspondant.</a:t>
            </a:r>
          </a:p>
          <a:p>
            <a:r>
              <a:t>Le moteur génère automatiquement un audit détaillé et un rapport Excel opposable aux commissaires aux comptes.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Sur cette vue terminal de marché, nous visualisons l'environnement de cotation multi-actifs :</a:t>
            </a:r>
          </a:p>
          <a:p>
            <a:r>
              <a:t>Notre plateforme couvre non seulement les paires en dirhams (USD/MAD, EUR/MAD, GBP/MAD) et les cross internationaux (EUR/USD),</a:t>
            </a:r>
          </a:p>
          <a:p>
            <a:r>
              <a:t>mais également l'or au comptant (XAU/USD).</a:t>
            </a:r>
          </a:p>
          <a:p>
            <a:r>
              <a:t>Comme vous pouvez l'observer sur le graphique en chandeliers japonais, l'or a franchi le cap historique des 4 000 dollars l'once,</a:t>
            </a:r>
          </a:p>
          <a:p>
            <a:r>
              <a:t>s'établissant aujourd'hui autour de 4 038 dollars.</a:t>
            </a:r>
          </a:p>
          <a:p>
            <a:r>
              <a:t>Ce franchissement est capital pour les trésoriers d'entreprises qui utilisent l'or comme réserve de valeur et couverture contre l'inflation.</a:t>
            </a:r>
          </a:p>
          <a:p>
            <a:r>
              <a:t>Le graphique intègre également une moyenne mobile à 20 jours (SMA20) et les volumes de transaction.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En tant qu'étudiant en Data Engineering, l'architecture des données est le cœur de mon travail :</a:t>
            </a:r>
          </a:p>
          <a:p>
            <a:r>
              <a:t>Nous avons implémenté l'architecture médaillon reconnue dans l'industrie :</a:t>
            </a:r>
          </a:p>
          <a:p>
            <a:r>
              <a:t>- Niveau Bronze : ingestion des flux bruts dans PostgreSQL avec notre db_adapter résilient (qui bascule automatiquement sur SQLite si Docker est éteint).</a:t>
            </a:r>
          </a:p>
          <a:p>
            <a:r>
              <a:t>- Niveau Silver : transformations dbt (data build tool) créant la table fact_trade_mtm en SQL pur avec gestion des cross synthétiques.</a:t>
            </a:r>
          </a:p>
          <a:p>
            <a:r>
              <a:t>- Niveau Gold : moteur Python haute performance utilisant des structures deque pour le débouclage FIFO et la réconciliation Front-to-Back.</a:t>
            </a:r>
          </a:p>
          <a:p>
            <a:r>
              <a:t>- Au niveau stockage, l'égalité comptable BR3 est verrouillée physiquement par une contrainte CHECK en base de données.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Pour automatiser cette chaîne sans intervention humaine, nous avons programmé un DAG Apache Airflow :</a:t>
            </a:r>
          </a:p>
          <a:p>
            <a:r>
              <a:t>Le déclenchement est fixé à 15h35 du lundi au vendredi, soit 5 minutes après la publication du fixing par Bank Al-Maghrib.</a:t>
            </a:r>
          </a:p>
          <a:p>
            <a:r>
              <a:t>La chaîne commence par un sensor qui vérifie la disponibilité des cours BAM,</a:t>
            </a:r>
          </a:p>
          <a:p>
            <a:r>
              <a:t>puis ingère les trades, lance les modèles dbt, exécute les tests d'intégrité, et enfin déclenche le calcul FIFO et la réconciliation.</a:t>
            </a:r>
          </a:p>
          <a:p>
            <a:r>
              <a:t>Ce pipeline garantit l'idempotence totale : réexécuter un traitement sur une date passée produit exactement le même résultat sans doublon.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En matière de gestion des risques, nous avons développé un moteur de stress-testing réglementaire :</a:t>
            </a:r>
          </a:p>
          <a:p>
            <a:r>
              <a:t>La réglementation de Bank Al-Maghrib autorisant une bande de +/- 5%, notre système simule instantanément l'impact de ces chocs extrêmes :</a:t>
            </a:r>
          </a:p>
          <a:p>
            <a:r>
              <a:t>- Dans le scénario haussier (+5%), le portefeuille s'apprécie à +169 460 MAD (+90 000 MAD de gain de change).</a:t>
            </a:r>
          </a:p>
          <a:p>
            <a:r>
              <a:t>- Dans le scénario baissier (-5%), le MTM chute à -10 540 MAD, déclenchant automatiquement une alerte de dépassement de seuil de stop-loss.</a:t>
            </a:r>
          </a:p>
          <a:p>
            <a:r>
              <a:t>Ce module permet aux directeurs des risques (CRO) d'anticiper la consommation en fonds propres de la salle de marché.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Pour la restitution utilisateur, nous avons conçu une interface professionnelle de type terminal financier (style Murex / Bloomberg) :</a:t>
            </a:r>
          </a:p>
          <a:p>
            <a:r>
              <a:t>Elle est organisée en 6 onglets clairs :</a:t>
            </a:r>
          </a:p>
          <a:p>
            <a:r>
              <a:t>1. Trading Desk &amp; Blotter : avec affichage transparent de la formule arithmétique de chaque trade et simulateur d'ordre avant exécution.</a:t>
            </a:r>
          </a:p>
          <a:p>
            <a:r>
              <a:t>2. Hub de Réconciliation FO/BO : détection automatique des anomalies et téléchargement du dossier d'audit Excel en un clic.</a:t>
            </a:r>
          </a:p>
          <a:p>
            <a:r>
              <a:t>3. Live Market Terminal : graphiques en chandeliers et suivi de l'or au-dessus des 4 000 dollars.</a:t>
            </a:r>
          </a:p>
          <a:p>
            <a:r>
              <a:t>4. Comptabilité d'inventaire : comparaison FIFO vs CMP et justification du résultat.</a:t>
            </a:r>
          </a:p>
          <a:p>
            <a:r>
              <a:t>5. Stress Testing Bank Al-Maghrib : matrice de sensibilité +/- 5%.</a:t>
            </a:r>
          </a:p>
          <a:p>
            <a:r>
              <a:t>6. Lignage Data Engineering : contrats de données et assertions dbt.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La fiabilité est la marque de fabrique d'un ingénieur de données.</a:t>
            </a:r>
          </a:p>
          <a:p>
            <a:r>
              <a:t>L'ensemble de notre plateforme est couvert par 10 tests unitaires automatisés sous pytest qui s'exécutent en 0.51 seconde.</a:t>
            </a:r>
          </a:p>
          <a:p>
            <a:r>
              <a:t>Chaque règle métier (BR1 à BR4), chaque anomalie de réconciliation et chaque cas de débouclage FIFO/CMP</a:t>
            </a:r>
          </a:p>
          <a:p>
            <a:r>
              <a:t>est validé par des assertions mathématiques strictes.</a:t>
            </a:r>
          </a:p>
          <a:p>
            <a:r>
              <a:t>De plus, dbt exécute des tests singuliers en SQL garantissant qu'aucune ligne avec Total != Réalisé + Latent ne peut persister en production.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Pour conclure, ce projet de fin d'année au sein de DXC Technology m'a permis d'allier ingénierie des données et finance de marché avancée.</a:t>
            </a:r>
          </a:p>
          <a:p>
            <a:r>
              <a:t>Nous avons livré une plateforme opérationnelle, rigoureuse sur le plan arithmétique, conforme aux normes de Bank Al-Maghrib,</a:t>
            </a:r>
          </a:p>
          <a:p>
            <a:r>
              <a:t>et apportant une réelle valeur ajoutée à la réconciliation Front-to-Back.</a:t>
            </a:r>
          </a:p>
          <a:p>
            <a:r>
              <a:t>Comme perspectives futures, nous envisageons le passage au streaming temps réel avec Apache Kafka et le parsing direct des messages SWIFT.</a:t>
            </a:r>
          </a:p>
          <a:p>
            <a:r>
              <a:t>Je tiens à remercier chaleureusement mes encadrants de DXC Technology et de l'UIR pour leur accompagnement précieux.</a:t>
            </a:r>
          </a:p>
          <a:p>
            <a:r>
              <a:t>Je suis maintenant à votre entière disposition pour répondre à toutes vos questions.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097280"/>
            <a:ext cx="10362895" cy="46634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PROJET DE FIN D'ANNÉE (PFA) · DATA ENGINEERING (4TH YEAR)</a:t>
            </a:r>
          </a:p>
          <a:p>
            <a:pPr>
              <a:spcBef>
                <a:spcPts val="1200"/>
              </a:spcBef>
              <a:defRPr sz="2800" b="1">
                <a:solidFill>
                  <a:srgbClr val="F8FAFC"/>
                </a:solidFill>
              </a:defRPr>
            </a:pPr>
            <a:r>
              <a:t>FX Trading Room P&amp;L Platform</a:t>
            </a:r>
            <a:br/>
            <a:r>
              <a:t>Accounting Currency: Moroccan Dirham (MAD)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</a:defRPr>
            </a:pPr>
            <a:r>
              <a:t>Multi-Desk Position Keeping, Front-to-Back Reconciliation &amp; Bank Al-Maghrib Compliance</a:t>
            </a:r>
          </a:p>
          <a:p>
            <a:pPr>
              <a:spcBef>
                <a:spcPts val="2400"/>
              </a:spcBef>
              <a:defRPr sz="1300" b="1">
                <a:solidFill>
                  <a:srgbClr val="10B981"/>
                </a:solidFill>
              </a:defRPr>
            </a:pPr>
            <a:r>
              <a:t>Candidate: Mohamed Taha El Qassid  |  Internship: DXC Technology  |  University: International University of Rabat (UIR)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Academic Year: 2025 - 2026  ·  Official Soutenance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01. CONTEXT &amp; MOTIVATION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Business Context &amp; The Problem Statement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What is an FX Trading Room (Salle de Marché)?</a:t>
            </a:r>
          </a:p>
          <a:p>
            <a:pPr>
              <a:spcBef>
                <a:spcPts val="1000"/>
              </a:spcBef>
              <a:defRPr b="1" sz="1200">
                <a:solidFill>
                  <a:srgbClr val="F8FAFC"/>
                </a:solidFill>
              </a:defRPr>
            </a:pPr>
            <a:r>
              <a:t>• Market Making &amp; Liquidity: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Corporate clients (OCP, Renault, Maroc Telecom) need foreign currencies (USD, EUR) to import equipment and export goods. The bank's trading room executes and hedges these deals.</a:t>
            </a:r>
          </a:p>
          <a:p>
            <a:pPr>
              <a:spcBef>
                <a:spcPts val="1000"/>
              </a:spcBef>
              <a:defRPr b="1" sz="1200">
                <a:solidFill>
                  <a:srgbClr val="F8FAFC"/>
                </a:solidFill>
              </a:defRPr>
            </a:pPr>
            <a:r>
              <a:t>• Massive Daily Volumes: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Trading desks execute hundreds of multi-million dirham transactions daily across spot, forward, and cross-currency instruments.</a:t>
            </a:r>
          </a:p>
          <a:p>
            <a:pPr>
              <a:spcBef>
                <a:spcPts val="1000"/>
              </a:spcBef>
              <a:defRPr b="1" sz="1200">
                <a:solidFill>
                  <a:srgbClr val="F8FAFC"/>
                </a:solidFill>
              </a:defRPr>
            </a:pPr>
            <a:r>
              <a:t>• The Regulatory Mandate: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Moroccan banks cannot keep books in foreign currencies. Bank Al-Maghrib mandates daily End-of-Day (EOD) revaluation of all books into Moroccan Dirhams (MAD).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F4444"/>
                </a:solidFill>
              </a:defRPr>
            </a:pPr>
            <a:r>
              <a:t>Why Traditional Excel &amp; Manual Processes Fail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Front vs. Back Discrepancies: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Traders book fast in Front-Office, but settlement confirmations from counterparty banks (SWIFT MT300) often have rate slippages or partial fills, causing hidden P&amp;L leakage.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Cross-Currency Complexity: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Trades like EUR/USD require synthetic triangular revaluation through BAM USD/MAD and EUR/MAD fixings at EOD.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Inventory Accounting Divergence: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Choosing between FIFO (Murex standard) and CMP (accounting average) creates timing variances that require automated tracking.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Our Solution: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An automated, auditable Data Engineering platform enforcing mathematical integrity rules (BR1 to BR4) with resilient dual-layer persistence.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02. REGULATORY RULES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Regulatory Framework: Bank Al-Maghrib Fixing &amp; MAD Peg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How Moroccan FX Peg Regulation Works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Accounting Currency: MAD: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All positions, whether booked in USD, EUR, or GBP, must be revalued into MAD at EOD to meet BAM prudential reporting standards.</a:t>
            </a:r>
          </a:p>
          <a:p>
            <a:pPr>
              <a:spcBef>
                <a:spcPts val="800"/>
              </a:spcBef>
              <a:defRPr b="1" sz="1200">
                <a:solidFill>
                  <a:srgbClr val="F59E0B"/>
                </a:solidFill>
              </a:defRPr>
            </a:pPr>
            <a:r>
              <a:t>• The Currency Basket Formulation: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The central exchange rate is anchored to a basket composed of 60% Euro and 40% US Dollar, reflecting Morocco's foreign trade structure:</a:t>
            </a:r>
          </a:p>
          <a:p>
            <a:pPr>
              <a:spcBef>
                <a:spcPts val="800"/>
              </a:spcBef>
              <a:defRPr b="1" sz="1200">
                <a:solidFill>
                  <a:srgbClr val="F59E0B"/>
                </a:solidFill>
              </a:defRPr>
            </a:pPr>
            <a:r>
              <a:t>  Formula: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Central Rate = 0.60 * EUR/MAD + 0.40 * USD/MAD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The +/- 5% Fluctuation Band: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Since January 2020, BAM allows the dirham to fluctuate within a +/- 5% band around the central rate. Desks must stress-test their portfolios against these boundary limits.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Daily EOD Fixing (15:30):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Bank Al-Maghrib publishes the official 'Cours de Référence' at 15:30. This fixing serves as the statutory revaluation benchmark for all Moroccan banks.</a:t>
            </a:r>
          </a:p>
        </p:txBody>
      </p:sp>
      <p:pic>
        <p:nvPicPr>
          <p:cNvPr id="5" name="Picture 4" descr="bam_basket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303520" cy="23865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03. FINANCIAL ENGINEERING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Financial Fundamentals: The 3 Core P&amp;L Metrics &amp; Invariant BR3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92608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1. Mark-to-Market (MTM)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Valuation of all open contracts against today's closing BAM fixing rate.</a:t>
            </a:r>
          </a:p>
          <a:p>
            <a:pPr>
              <a:spcBef>
                <a:spcPts val="800"/>
              </a:spcBef>
              <a:defRPr sz="1000" b="1">
                <a:solidFill>
                  <a:srgbClr val="F59E0B"/>
                </a:solidFill>
              </a:defRPr>
            </a:pPr>
            <a:r>
              <a:t>Direct Quote (USD/MAD):</a:t>
            </a:r>
            <a:br/>
            <a:r>
              <a:t>MTM = (Fixing - Rate) * Nominal</a:t>
            </a:r>
            <a:br/>
            <a:br/>
            <a:r>
              <a:t>Cross Quote (EUR/USD):</a:t>
            </a:r>
            <a:br/>
            <a:r>
              <a:t>MTM = (Fixing_EUR - Rate*Fixing_USD) * Nominal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292608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2. Realized P&amp;L (Cash)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Actual financial gain or loss realized when an open position is unwound by an opposing trade.</a:t>
            </a:r>
          </a:p>
          <a:p>
            <a:pPr>
              <a:spcBef>
                <a:spcPts val="800"/>
              </a:spcBef>
              <a:defRPr sz="1000" b="1">
                <a:solidFill>
                  <a:srgbClr val="F8FAFC"/>
                </a:solidFill>
              </a:defRPr>
            </a:pPr>
            <a:r>
              <a:t>Destination Accounting:</a:t>
            </a:r>
            <a:br/>
            <a:r>
              <a:t>Impacts the Income Statement (Compte de résultat) directly as cash earnings.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292608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8B5CF6"/>
                </a:solidFill>
              </a:defRPr>
            </a:pPr>
            <a:r>
              <a:t>3. Unrealized (Latent)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Potential paper gain or loss on positions that remain open overnight.</a:t>
            </a:r>
          </a:p>
          <a:p>
            <a:pPr>
              <a:spcBef>
                <a:spcPts val="800"/>
              </a:spcBef>
              <a:defRPr sz="1000" b="1">
                <a:solidFill>
                  <a:srgbClr val="F8FAFC"/>
                </a:solidFill>
              </a:defRPr>
            </a:pPr>
            <a:r>
              <a:t>Destination Accounting:</a:t>
            </a:r>
            <a:br/>
            <a:r>
              <a:t>Recorded on the Balance Sheet (Bilan / Capitaux Propres) as revaluation reserve.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8288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149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THE GOLDEN ACCOUNTING INVARIANT (BUSINESS RULE BR3)</a:t>
            </a:r>
          </a:p>
          <a:p>
            <a:pPr>
              <a:spcBef>
                <a:spcPts val="400"/>
              </a:spcBef>
              <a:defRPr sz="1700" b="1">
                <a:solidFill>
                  <a:srgbClr val="F8FAFC"/>
                </a:solidFill>
              </a:defRPr>
            </a:pPr>
            <a:r>
              <a:t>Total Mark-to-Market P&amp;L = Realized P&amp;L + Unrealized (Latent) P&amp;L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Enforcement Mechanism: Physically validated by PostgreSQL CHECK constraint 'ROUND(total_mad, 2) = ROUND(realized_mad + unrealized_mad, 2)' and automated dbt singular assertions. Zero financial leakage allowed.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04. MATHEMATICAL VALIDATION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Reference Case Study: The 4 Benchmark Trades (+79,460 MAD)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Audit of the Official PFE Benchmark Trades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Trade 1: USD/MAD Buy 1,000,000 @ 9.9200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BAM Fixing: 9.9500 MAD</a:t>
            </a:r>
            <a:br/>
            <a:r>
              <a:t>Formula: (9.9500 - 9.9200) * 1,000,000 = +30,000 MAD (MTM)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Trade 2: USD/MAD Sell 500,000 @ 9.9600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Unwinds 500k of Trade 1:</a:t>
            </a:r>
            <a:br/>
            <a:r>
              <a:t>Realized Cash Gain: (9.9600 - 9.9200) * 500k = +20,000 MAD</a:t>
            </a:r>
            <a:br/>
            <a:r>
              <a:t>Remaining 500k Unrealized: (9.9500 - 9.9200) * 500k = +15,000 MAD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Trade 3: EUR/MAD Buy 800,000 @ 10.7700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BAM Fixing: 10.8000 MAD</a:t>
            </a:r>
            <a:br/>
            <a:r>
              <a:t>Formula: (10.8000 - 10.7700) * 800,000 = +24,000 MAD (Unrealized)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Trade 4: EUR/USD Buy 600,000 @ 1.0820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Synthetic Cross Conversion to MAD:</a:t>
            </a:r>
            <a:br/>
            <a:r>
              <a:t>Formula: (10.8000 - (1.0820 * 9.9500)) * 600,000</a:t>
            </a:r>
            <a:br/>
            <a:r>
              <a:t>MTM Gain = +20,460 MAD (Unrealized)</a:t>
            </a:r>
          </a:p>
        </p:txBody>
      </p:sp>
      <p:pic>
        <p:nvPicPr>
          <p:cNvPr id="5" name="Picture 4" descr="benchmark_pn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30352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05. ALGORITHMIC DEPLETION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Inventory Accounting: FIFO vs. CMP &amp; Brief Audit Discovery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Section 4 Reference Example (2 Buys + 1 Sale)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Scenario Setup: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Buy 1: 500k USD @ 9.9100</a:t>
            </a:r>
            <a:br/>
            <a:r>
              <a:t>Buy 2: 500k USD @ 9.9300</a:t>
            </a:r>
            <a:br/>
            <a:r>
              <a:t>Sale: 600k USD @ 9.9500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FIFO Depletion Logic (Murex Standard):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Lot 1 (500k) exhausted first: (9.95 - 9.91) * 500k = +20,000 MAD</a:t>
            </a:r>
            <a:br/>
            <a:r>
              <a:t>Lot 2 (100k) partially consumed: (9.95 - 9.93) * 100k = +2,000 MAD</a:t>
            </a:r>
            <a:br/>
            <a:r>
              <a:t>Total FIFO Realized = +22,000 MAD. Remaining: 400k @ 9.93.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CMP Logic (Coût Moyen Pondéré):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Average Purchase Cost = (500k*9.91 + 500k*9.93) / 1,000k = 9.9200 MAD</a:t>
            </a:r>
            <a:br/>
            <a:r>
              <a:t>Realized = (9.9500 - 9.9200) * 600k = +18,000 MAD.</a:t>
            </a:r>
          </a:p>
          <a:p>
            <a:pPr>
              <a:spcBef>
                <a:spcPts val="600"/>
              </a:spcBef>
              <a:defRPr b="1" sz="1100">
                <a:solidFill>
                  <a:srgbClr val="F59E0B"/>
                </a:solidFill>
              </a:defRPr>
            </a:pPr>
            <a:r>
              <a:t>• Audit Discovery (Soutenance Highlight):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The PFE brief text stated '21,500 MAD (19,500 + 2,000)' due to a small drafting typo. Our data engine recalculates and proves the mathematically exact figure of 22,000 MAD.</a:t>
            </a:r>
          </a:p>
        </p:txBody>
      </p:sp>
      <p:pic>
        <p:nvPicPr>
          <p:cNvPr id="5" name="Picture 4" descr="fifo_vs_c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303520" cy="25121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06. RECONCILIATION &amp; RISK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Front-to-Back Reconciliation: Auditing the 4 Real-World Breaks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How Our Reconciliation Engine (OS6) Operates</a:t>
            </a:r>
          </a:p>
          <a:p>
            <a:pPr>
              <a:spcBef>
                <a:spcPts val="600"/>
              </a:spcBef>
              <a:defRPr b="1" sz="1100">
                <a:solidFill>
                  <a:srgbClr val="EF4444"/>
                </a:solidFill>
              </a:defRPr>
            </a:pPr>
            <a:r>
              <a:t>• Break 1: Rate Slippage (BMCE Bank of Africa)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FO booked EUR/MAD at 10.7950, but BO confirmation arrived at 10.7985 (+35 pips / -2,450 MAD variance due to interbank broker spread).</a:t>
            </a:r>
          </a:p>
          <a:p>
            <a:pPr>
              <a:spcBef>
                <a:spcPts val="600"/>
              </a:spcBef>
              <a:defRPr b="1" sz="1100">
                <a:solidFill>
                  <a:srgbClr val="EF4444"/>
                </a:solidFill>
              </a:defRPr>
            </a:pPr>
            <a:r>
              <a:t>• Break 2: Nominal Mismatch (Attijariwafa Bank)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FO booked 1,500,000 USD, but counterparty settled only 1,400,000 USD (-100k USD missing because the counterparty's intraday credit ceiling was reached).</a:t>
            </a:r>
          </a:p>
          <a:p>
            <a:pPr>
              <a:spcBef>
                <a:spcPts val="600"/>
              </a:spcBef>
              <a:defRPr b="1" sz="1100">
                <a:solidFill>
                  <a:srgbClr val="EF4444"/>
                </a:solidFill>
              </a:defRPr>
            </a:pPr>
            <a:r>
              <a:t>• Break 3: Unconfirmed SWIFT MT300 (BNP Paribas)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FO trader executed EUR/USD 500k at 17:15, but BO received no affirmation message. Poses unhedged overnight currency risk.</a:t>
            </a:r>
          </a:p>
          <a:p>
            <a:pPr>
              <a:spcBef>
                <a:spcPts val="600"/>
              </a:spcBef>
              <a:defRPr b="1" sz="1100">
                <a:solidFill>
                  <a:srgbClr val="EF4444"/>
                </a:solidFill>
              </a:defRPr>
            </a:pPr>
            <a:r>
              <a:t>• Break 4: Orphan Settlement (Barclays Bank)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BO received confirmed settlement for 300k GBP, but no FO ticket was booked. Detects rogue or unrecorded dealer trades.</a:t>
            </a:r>
          </a:p>
        </p:txBody>
      </p:sp>
      <p:pic>
        <p:nvPicPr>
          <p:cNvPr id="5" name="Picture 4" descr="fo_bo_br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303520" cy="2512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07. MARKET DATA &amp; BROKER VIEW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Live Market Terminal &amp; Gold Breakthrough Above $4,000/oz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Multi-Asset Monitoring &amp; LBMA Gold Dynamics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Asset Universe Covered: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USD/MAD (BAM Fixing ~9.83 - 9.95)</a:t>
            </a:r>
            <a:br/>
            <a:r>
              <a:t>• EUR/MAD (BAM Fixing ~10.80 - 10.99)</a:t>
            </a:r>
            <a:br/>
            <a:r>
              <a:t>• EUR/USD (International Cross ~1.08 - 1.11)</a:t>
            </a:r>
            <a:br/>
            <a:r>
              <a:t>• GBP/MAD (Corporate &amp; Hedging ~12.65 - 13.00)</a:t>
            </a:r>
            <a:br/>
            <a:r>
              <a:t>• XAU/USD (Gold Spot LBMA Benchmark)</a:t>
            </a:r>
          </a:p>
          <a:p>
            <a:pPr>
              <a:spcBef>
                <a:spcPts val="600"/>
              </a:spcBef>
              <a:defRPr b="1" sz="1100">
                <a:solidFill>
                  <a:srgbClr val="F59E0B"/>
                </a:solidFill>
              </a:defRPr>
            </a:pPr>
            <a:r>
              <a:t>• The Historic $4,000/oz Gold Breakthrough: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Gold crossed the historic resistance milestone of $4,000 / oz (trading at $4,038.50). In our platform, corporate treasuries monitor gold as a sovereign inflation and currency hedge.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Institutional Technical Indicators: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Dual-pane financial charting: Candlesticks (green/red), 20-period Simple Moving Average (SMA), and trading volume histograms.</a:t>
            </a:r>
          </a:p>
          <a:p>
            <a:pPr>
              <a:spcBef>
                <a:spcPts val="600"/>
              </a:spcBef>
              <a:defRPr b="1" sz="1100">
                <a:solidFill>
                  <a:srgbClr val="F8FAFC"/>
                </a:solidFill>
              </a:defRPr>
            </a:pPr>
            <a:r>
              <a:t>• Real-Time BAM Live API Fetcher: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Integrated live REST feed pulling active market quotes and instantly recalibrating BAM basket indicators.</a:t>
            </a:r>
          </a:p>
        </p:txBody>
      </p:sp>
      <p:pic>
        <p:nvPicPr>
          <p:cNvPr id="5" name="Picture 4" descr="gold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303520" cy="25121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08. DATA ARCHITECTURE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Data Engineering Pipeline: Medallion Architecture (Bronze/Silver/Gold)</a:t>
            </a:r>
          </a:p>
        </p:txBody>
      </p:sp>
      <p:pic>
        <p:nvPicPr>
          <p:cNvPr id="3" name="Picture 2" descr="pipeline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481431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4389120"/>
            <a:ext cx="3383280" cy="201168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262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Bronze Staging Layer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• Raw ingestion of trades and fixings.</a:t>
            </a:r>
            <a:br/>
            <a:r>
              <a:t>• Tables: stg_trade, stg_market_rate.</a:t>
            </a:r>
            <a:br/>
            <a:r>
              <a:t>• Dual-storage adapter: PostgreSQL when Docker is up, SQLite local fallback.</a:t>
            </a:r>
            <a:br/>
            <a:r>
              <a:t>• Deduplication via source_ref.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389120"/>
            <a:ext cx="3383280" cy="201168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45262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Silver Transformation (dbt)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• Dimensional modeling with dbt.</a:t>
            </a:r>
            <a:br/>
            <a:r>
              <a:t>• Mart: fact_trade_mtm in pure SQL.</a:t>
            </a:r>
            <a:br/>
            <a:r>
              <a:t>• Indirect cross calculation (EUR/USD).</a:t>
            </a:r>
            <a:br/>
            <a:r>
              <a:t>• Automated singular dbt test verifying Total = Realized + Latent.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389120"/>
            <a:ext cx="3383280" cy="201168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452628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Gold Business Layer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• Python pnl_engine.py with FIFO deque.</a:t>
            </a:r>
            <a:br/>
            <a:r>
              <a:t>• FO/BO reconciliation &amp; dispute hub.</a:t>
            </a:r>
            <a:br/>
            <a:r>
              <a:t>• Persistence in daily_pnl with CHECK rule.</a:t>
            </a:r>
            <a:br/>
            <a:r>
              <a:t>• OpenPyXL multi-tab Excel export.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09. PIPELINE ORCHESTRATION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Workflow Orchestration: Apache Airflow DAG at 15:35 EOD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Airflow DAG Execution Timeline: 'fx_pnl_daily_closing'</a:t>
            </a:r>
          </a:p>
          <a:p>
            <a:pPr>
              <a:spcBef>
                <a:spcPts val="500"/>
              </a:spcBef>
              <a:defRPr b="1" sz="1100">
                <a:solidFill>
                  <a:srgbClr val="F8FAFC"/>
                </a:solidFill>
              </a:defRPr>
            </a:pPr>
            <a:r>
              <a:t>• Schedule: 15:35 Daily (CRON: 35 15 * * 1-5)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Triggered 5 minutes after Bank Al-Maghrib publishes the official fixing at 15:30.</a:t>
            </a:r>
          </a:p>
          <a:p>
            <a:pPr>
              <a:spcBef>
                <a:spcPts val="500"/>
              </a:spcBef>
              <a:defRPr b="1" sz="1100">
                <a:solidFill>
                  <a:srgbClr val="10B981"/>
                </a:solidFill>
              </a:defRPr>
            </a:pPr>
            <a:r>
              <a:t>• Task 1: wait_for_bam_fixing (Sensor)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Verifies that Bank Al-Maghrib has published today's fixing rates; retries with exponential backoff if delayed.</a:t>
            </a:r>
          </a:p>
          <a:p>
            <a:pPr>
              <a:spcBef>
                <a:spcPts val="500"/>
              </a:spcBef>
              <a:defRPr b="1" sz="1100">
                <a:solidFill>
                  <a:srgbClr val="10B981"/>
                </a:solidFill>
              </a:defRPr>
            </a:pPr>
            <a:r>
              <a:t>• Task 2: ingest_eod_trades (PythonOperator)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Extracts Front-Office deal tickets and Back-Office SWIFT settlement confirmations into Bronze tables.</a:t>
            </a:r>
          </a:p>
          <a:p>
            <a:pPr>
              <a:spcBef>
                <a:spcPts val="500"/>
              </a:spcBef>
              <a:defRPr b="1" sz="1100">
                <a:solidFill>
                  <a:srgbClr val="10B981"/>
                </a:solidFill>
              </a:defRPr>
            </a:pPr>
            <a:r>
              <a:t>• Task 3: dbt_run_mtm_models (BashOperator)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Executes dbt transformation models to calculate Mark-to-Market in the Silver fact mart.</a:t>
            </a:r>
          </a:p>
          <a:p>
            <a:pPr>
              <a:spcBef>
                <a:spcPts val="500"/>
              </a:spcBef>
              <a:defRPr b="1" sz="1100">
                <a:solidFill>
                  <a:srgbClr val="10B981"/>
                </a:solidFill>
              </a:defRPr>
            </a:pPr>
            <a:r>
              <a:t>• Task 4: dbt_test_financial_integrity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Runs automated assertions (uniqueness, not-null, BR3 invariant). Halts pipeline if identity fails.</a:t>
            </a:r>
          </a:p>
          <a:p>
            <a:pPr>
              <a:spcBef>
                <a:spcPts val="500"/>
              </a:spcBef>
              <a:defRPr b="1" sz="1100">
                <a:solidFill>
                  <a:srgbClr val="10B981"/>
                </a:solidFill>
              </a:defRPr>
            </a:pPr>
            <a:r>
              <a:t>• Task 5: compute_fifo_pnl &amp; reconcile_fo_bo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Executes the Gold calculation engine, populates daily_pnl, and generates the institutional audit Excel package.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Enterprise Data Engineering Strengths</a:t>
            </a:r>
          </a:p>
          <a:p>
            <a:pPr>
              <a:spcBef>
                <a:spcPts val="1000"/>
              </a:spcBef>
              <a:defRPr b="1" sz="1200">
                <a:solidFill>
                  <a:srgbClr val="10B981"/>
                </a:solidFill>
              </a:defRPr>
            </a:pPr>
            <a:r>
              <a:t>✔ Idempotency: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Re-running the DAG for any past date produces identical, reproducible results without duplicating trades or P&amp;L rows.</a:t>
            </a:r>
          </a:p>
          <a:p>
            <a:pPr>
              <a:spcBef>
                <a:spcPts val="1000"/>
              </a:spcBef>
              <a:defRPr b="1" sz="1200">
                <a:solidFill>
                  <a:srgbClr val="10B981"/>
                </a:solidFill>
              </a:defRPr>
            </a:pPr>
            <a:r>
              <a:t>✔ Circuit Breaker Quality Gates: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If a dbt test fails (e.g. rate is negative or Total != Realized + Unrealized), the pipeline fails immediately before reporting corrupted data.</a:t>
            </a:r>
          </a:p>
          <a:p>
            <a:pPr>
              <a:spcBef>
                <a:spcPts val="1000"/>
              </a:spcBef>
              <a:defRPr b="1" sz="1200">
                <a:solidFill>
                  <a:srgbClr val="10B981"/>
                </a:solidFill>
              </a:defRPr>
            </a:pPr>
            <a:r>
              <a:t>✔ Audit Trail &amp; Lineage: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Every calculation is tied to the trade ticket, counterparty, trader ID, and execution timestamp.</a:t>
            </a:r>
          </a:p>
          <a:p>
            <a:pPr>
              <a:spcBef>
                <a:spcPts val="1000"/>
              </a:spcBef>
              <a:defRPr b="1" sz="1200">
                <a:solidFill>
                  <a:srgbClr val="10B981"/>
                </a:solidFill>
              </a:defRPr>
            </a:pPr>
            <a:r>
              <a:t>✔ Zero-Downtime Fallback: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If the central PostgreSQL cluster is unavailable, the pipeline falls back gracefully to local SQLite with identical schema and constraints.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10. RISK MANAGEMENT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Risk Management: Bank Al-Maghrib Fluctuation Band Stress Testing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Base Case (BAM Official)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USD/MAD: 9.9500 MAD</a:t>
            </a:r>
            <a:br/>
            <a:r>
              <a:t>• EUR/MAD: 10.8000 MAD</a:t>
            </a:r>
            <a:br/>
            <a:r>
              <a:t>• EUR/USD: 1.0854</a:t>
            </a:r>
            <a:br/>
            <a:br/>
            <a:r>
              <a:t>Portfolio MTM:</a:t>
            </a:r>
            <a:br/>
            <a:r>
              <a:t>+79,460 MAD</a:t>
            </a:r>
            <a:br/>
            <a:br/>
            <a:r>
              <a:t>Regulatory Compliance:</a:t>
            </a:r>
            <a:br/>
            <a:r>
              <a:t>COMPLIANT (100% OK)</a:t>
            </a:r>
            <a:br/>
            <a:br/>
            <a:r>
              <a:t>Stop-Loss Status:</a:t>
            </a:r>
            <a:br/>
            <a:r>
              <a:t>No breach across any trading desk.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+5% Fluctuation Shock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USD/MAD: 10.4475 MAD (+5%)</a:t>
            </a:r>
            <a:br/>
            <a:r>
              <a:t>• EUR/MAD: 11.3400 MAD (+5%)</a:t>
            </a:r>
            <a:br/>
            <a:br/>
            <a:r>
              <a:t>Portfolio MTM:</a:t>
            </a:r>
            <a:br/>
            <a:r>
              <a:t>+169,460 MAD (+90,000 MAD)</a:t>
            </a:r>
            <a:br/>
            <a:br/>
            <a:r>
              <a:t>Impact Analysis:</a:t>
            </a:r>
            <a:br/>
            <a:r>
              <a:t>Long positions in foreign currencies appreciate strongly in MAD terms.</a:t>
            </a:r>
            <a:br/>
            <a:br/>
            <a:r>
              <a:t>Risk Assessment:</a:t>
            </a:r>
            <a:br/>
            <a:r>
              <a:t>High capital gain, zero credit breach.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F4444"/>
                </a:solidFill>
              </a:defRPr>
            </a:pPr>
            <a:r>
              <a:t>-5% Fluctuation Shock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USD/MAD: 9.4525 MAD (-5%)</a:t>
            </a:r>
            <a:br/>
            <a:r>
              <a:t>• EUR/MAD: 10.2600 MAD (-5%)</a:t>
            </a:r>
            <a:br/>
            <a:br/>
            <a:r>
              <a:t>Portfolio MTM:</a:t>
            </a:r>
            <a:br/>
            <a:r>
              <a:t>-10,540 MAD (-90,000 MAD)</a:t>
            </a:r>
            <a:br/>
            <a:br/>
            <a:r>
              <a:t>Impact Analysis:</a:t>
            </a:r>
            <a:br/>
            <a:r>
              <a:t>Severe depreciation of foreign holdings against Dirham.</a:t>
            </a:r>
            <a:br/>
            <a:br/>
            <a:r>
              <a:t>Risk Alert:</a:t>
            </a:r>
            <a:br/>
            <a:r>
              <a:t>Triggers Stop-Loss warning on USD_DESK. Desk manager notified immediately.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11. APPLICATION INTERFACE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Interactive Trading Terminal: Streamlit Multi-Tab Workspace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Tab 1: Trading Desk &amp; Blotter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Active portfolio KPIs (Total MTM, Realized, Latent), trade blotter with explicit mathematical formulas in MAD, and pre-trade deal ticket simulator.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Tab 2: FO / BO Reconciliation Hub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Comprehensive discrepancy detection (rate slippage, nominal break, unconfirmed SWIFT), pips variance, and 1-click Excel audit package download.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21208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Tab 3: Live Market Browser &amp; Gold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Interactive dual-pane financial charting: Candlesticks, 20-period SMA, volume histograms, and LBMA Gold $4,000 breakthrough marker.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108960"/>
            <a:ext cx="521208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2461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Tab 4: Inventory Accounting (FIFO/CMP)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Visual step-by-step demonstration of Section 4 lot depletion, explaining convergence upon closure and the brief's arithmetic audit note.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521208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920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Tab 5: BAM Fluctuation Band Matrix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Stress-testing matrix simulating +/- 1%, +/- 3%, and +/- 5% currency basket boundary shifts and stop-loss breach alerts.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54880"/>
            <a:ext cx="5212080" cy="14630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8920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Tab 6: Data Engineering Lineage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End-to-end architecture diagram, dbt test results table, and Airflow DAG orchestration contract enforcement.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12. QUALITY &amp; VALIDATION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Automated Testing, Data Quality Contracts &amp; Benchmark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10/10 Automated Pytest Tests (100% PASS)</a:t>
            </a:r>
          </a:p>
          <a:p>
            <a:pPr>
              <a:spcBef>
                <a:spcPts val="300"/>
              </a:spcBef>
              <a:defRPr b="1" sz="1050">
                <a:solidFill>
                  <a:srgbClr val="10B981"/>
                </a:solidFill>
              </a:defRPr>
            </a:pPr>
            <a:r>
              <a:t>✔ test_individual_trade_mtm: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Validates exact MTM on direct MAD pairs and synthetic cross EUR/USD.</a:t>
            </a:r>
          </a:p>
          <a:p>
            <a:pPr>
              <a:spcBef>
                <a:spcPts val="300"/>
              </a:spcBef>
              <a:defRPr b="1" sz="1050">
                <a:solidFill>
                  <a:srgbClr val="10B981"/>
                </a:solidFill>
              </a:defRPr>
            </a:pPr>
            <a:r>
              <a:t>✔ test_realized_and_unrealized_decomposition: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Ensures exact split: +20,000 MAD Realized, +59,460 MAD Latent.</a:t>
            </a:r>
          </a:p>
          <a:p>
            <a:pPr>
              <a:spcBef>
                <a:spcPts val="300"/>
              </a:spcBef>
              <a:defRPr b="1" sz="1050">
                <a:solidFill>
                  <a:srgbClr val="10B981"/>
                </a:solidFill>
              </a:defRPr>
            </a:pPr>
            <a:r>
              <a:t>✔ test_supporting_example_fifo_vs_cmp: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Validates Section 4 reference example (+22,000 FIFO vs +18,000 CMP).</a:t>
            </a:r>
          </a:p>
          <a:p>
            <a:pPr>
              <a:spcBef>
                <a:spcPts val="300"/>
              </a:spcBef>
              <a:defRPr b="1" sz="1050">
                <a:solidFill>
                  <a:srgbClr val="10B981"/>
                </a:solidFill>
              </a:defRPr>
            </a:pPr>
            <a:r>
              <a:t>✔ test_business_rule_br3_identity: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Verifies Total = Realized + Unrealized across 100 random simulated trades.</a:t>
            </a:r>
          </a:p>
          <a:p>
            <a:pPr>
              <a:spcBef>
                <a:spcPts val="300"/>
              </a:spcBef>
              <a:defRPr b="1" sz="1050">
                <a:solidFill>
                  <a:srgbClr val="10B981"/>
                </a:solidFill>
              </a:defRPr>
            </a:pPr>
            <a:r>
              <a:t>✔ test_reconciliation_exact_matches: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Confirms 0 discrepancies on perfectly matched FO/BO trades.</a:t>
            </a:r>
          </a:p>
          <a:p>
            <a:pPr>
              <a:spcBef>
                <a:spcPts val="300"/>
              </a:spcBef>
              <a:defRPr b="1" sz="1050">
                <a:solidFill>
                  <a:srgbClr val="10B981"/>
                </a:solidFill>
              </a:defRPr>
            </a:pPr>
            <a:r>
              <a:t>✔ test_reconciliation_rate_slippage: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Detects pip-level price variance and computes MAD financial impact.</a:t>
            </a:r>
          </a:p>
          <a:p>
            <a:pPr>
              <a:spcBef>
                <a:spcPts val="300"/>
              </a:spcBef>
              <a:defRPr b="1" sz="1050">
                <a:solidFill>
                  <a:srgbClr val="10B981"/>
                </a:solidFill>
              </a:defRPr>
            </a:pPr>
            <a:r>
              <a:t>✔ test_reconciliation_unconfirmed_trade: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Flags ghost trades with missing Back-Office confirmations.</a:t>
            </a:r>
          </a:p>
          <a:p>
            <a:pPr>
              <a:spcBef>
                <a:spcPts val="300"/>
              </a:spcBef>
              <a:defRPr b="1" sz="1050">
                <a:solidFill>
                  <a:srgbClr val="10B981"/>
                </a:solidFill>
              </a:defRPr>
            </a:pPr>
            <a:r>
              <a:t>✔ test_reconciliation_nominal_mismatch: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Verifies detection of partial fills and counterparty credit caps.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dbt Automated Data Quality Assertions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BR1: BAM Rate Conversion: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Guarantees all foreign pairs convert to MAD; rejects null or negative rates.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BR2: EOD Revaluation: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Verifies all open tickets are revalued at today's official BAM fixing rate.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BR3: Accounting Equality: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Singular SQL test: SELECT * FROM mart WHERE ROUND(total) != ROUND(realized + latent). Must return 0 rows.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BR4: Chronological Lot Integrity: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Unit test verifying queue order cannot unwind a lot before earlier timestamped lots.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Execution Performance: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Full test suite (10 unit tests + dbt assertions) executes in under 0.55 seconds.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13. CONCLUSION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Conclusion, Achievements &amp; Future Perspectives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Key Project Deliverables &amp; Achievements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✔ 100% PFE Brief Compliance: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Mathematical reproduction of benchmark numbers (+79,460 MAD total MTM, +20k Realized, +59,460 Latent).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✔ Automated FO/BO Reconciliation: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Replaced manual error-prone Excel checks with real-time discrepancy detection and 1-click auditable Excel exports.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✔ Bank Al-Maghrib Live API Integration: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Real-time market rate feed, BAM currency basket metrics, and +/-5% fluctuation band stress-testing.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✔ Resilient Dual-Storage Architecture: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Seamless PostgreSQL production connectivity with transparent automatic SQLite local fallback.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Future Technical Perspectives</a:t>
            </a:r>
          </a:p>
          <a:p>
            <a:pPr>
              <a:spcBef>
                <a:spcPts val="800"/>
              </a:spcBef>
              <a:defRPr b="1" sz="1200">
                <a:solidFill>
                  <a:srgbClr val="F59E0B"/>
                </a:solidFill>
              </a:defRPr>
            </a:pPr>
            <a:r>
              <a:t>➔ Real-Time Kafka Streaming: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Transition from 15:35 EOD batch processing to sub-second tick-by-tick real-time position keeping via Apache Kafka.</a:t>
            </a:r>
          </a:p>
          <a:p>
            <a:pPr>
              <a:spcBef>
                <a:spcPts val="800"/>
              </a:spcBef>
              <a:defRPr b="1" sz="1200">
                <a:solidFill>
                  <a:srgbClr val="F59E0B"/>
                </a:solidFill>
              </a:defRPr>
            </a:pPr>
            <a:r>
              <a:t>➔ SWIFT MT300 Direct Parser: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Automated ingestion of raw ISO 15022/20022 SWIFT confirmation messages directly from interbank networks.</a:t>
            </a:r>
          </a:p>
          <a:p>
            <a:pPr>
              <a:spcBef>
                <a:spcPts val="800"/>
              </a:spcBef>
              <a:defRPr b="1" sz="1200">
                <a:solidFill>
                  <a:srgbClr val="F59E0B"/>
                </a:solidFill>
              </a:defRPr>
            </a:pPr>
            <a:r>
              <a:t>➔ Multi-Factor Monte Carlo VaR: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Advanced Value-at-Risk modeling across non-linear currency options and structural FX forward curves.</a:t>
            </a:r>
          </a:p>
          <a:p>
            <a:br/>
            <a:pPr>
              <a:spcBef>
                <a:spcPts val="1400"/>
              </a:spcBef>
              <a:defRPr sz="1600" b="1">
                <a:solidFill>
                  <a:srgbClr val="F8FAFC"/>
                </a:solidFill>
              </a:defRPr>
            </a:pPr>
            <a:r>
              <a:t>Thank you for your attention.</a:t>
            </a:r>
            <a:br/>
            <a:r>
              <a:t>Questions &amp;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