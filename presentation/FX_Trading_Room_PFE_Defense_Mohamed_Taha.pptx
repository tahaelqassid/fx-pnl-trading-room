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 messieurs les membres du jury, monsieur Fayçal ZINEDINE pour l'UIR, monsieur Samir GOURROUM pour DXC Technology.</a:t>
            </a:r>
          </a:p>
          <a:p>
            <a:r>
              <a:t>Je m'appelle Mohamed Taha El Qassid, étudiant en 4ème année Génie des Données (Data Engineering) à l'Université Internationale de Rabat.</a:t>
            </a:r>
          </a:p>
          <a:p>
            <a:r>
              <a:t>J'ai l'honneur de vous présenter aujourd'hui mon projet de fin d'année réalisé au sein de DXC Technology :</a:t>
            </a:r>
          </a:p>
          <a:p>
            <a:r>
              <a:t>'Conception, développement et automatisation d'une plateforme d'ingénierie des données pour le monitoring du P&amp;L FX en devise comptable MAD'.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projet répond à un défi opérationnel concret au sein des banques d'investissement :</a:t>
            </a:r>
          </a:p>
          <a:p>
            <a:r>
              <a:t>Des flux massifs d'entreprises comme l'OCP ou Renault transitent par la salle de marché.</a:t>
            </a:r>
          </a:p>
          <a:p>
            <a:r>
              <a:t>Les feuilles Excel manuelles génèrent des erreurs de calcul, des décalages non détectés entre le Front-Office et le Back-Office,</a:t>
            </a:r>
          </a:p>
          <a:p>
            <a:r>
              <a:t>et ne respectent pas les impératifs d'auditabilité imposés par Bank Al-Maghrib.</a:t>
            </a:r>
          </a:p>
          <a:p>
            <a:r>
              <a:t>Notre mission a été de bâtir un pipeline de données industriel garantissant l'intégrité comptable à chaque étape.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régime de change marocain est un régime à parité glissante :</a:t>
            </a:r>
          </a:p>
          <a:p>
            <a:r>
              <a:t>Le dirham est rattaché à un panier composé de 60% d'Euros et 40% de Dollars US, avec une marge de fluctuation de +/- 5%.</a:t>
            </a:r>
          </a:p>
          <a:p>
            <a:r>
              <a:t>Bank Al-Maghrib publie son fixing officiel chaque jour à 15h30.</a:t>
            </a:r>
          </a:p>
          <a:p>
            <a:r>
              <a:t>Notre plateforme intègre cette formule réglementaire et surveille en temps réel la position du cours central et des bornes de la bande.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cœur financier de notre système :</a:t>
            </a:r>
          </a:p>
          <a:p>
            <a:r>
              <a:t>Le MTM est la valeur liquidative théorique au cours officiel.</a:t>
            </a:r>
          </a:p>
          <a:p>
            <a:r>
              <a:t>Il se décompose obligatoirement en deux sous-ensembles étanches :</a:t>
            </a:r>
          </a:p>
          <a:p>
            <a:r>
              <a:t>- Le Réalisé, qui représente du cash effectif et va au Compte de Résultat.</a:t>
            </a:r>
          </a:p>
          <a:p>
            <a:r>
              <a:t>- Le Latent, qui représente une plus ou moins-value potentielle et reste au Bilan.</a:t>
            </a:r>
          </a:p>
          <a:p>
            <a:r>
              <a:t>Notre Business Rule BR3 stipule que Total = Réalisé + Latent. Cette contrainte est vérifiée physiquement en base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la preuve arithmétique rigoureuse sur le cas d'étude du rapport (Tables 2.2 à 2.4) :</a:t>
            </a:r>
          </a:p>
          <a:p>
            <a:r>
              <a:t>Quatre transactions exécutées dans la journée :</a:t>
            </a:r>
          </a:p>
          <a:p>
            <a:r>
              <a:t>- Le Trade 1 génère +30 000 MAD.</a:t>
            </a:r>
          </a:p>
          <a:p>
            <a:r>
              <a:t>- Le Trade 2 déboucle la moitié du Trade 1, dégageant +20 000 MAD de réalisé et +15 000 MAD de latent.</a:t>
            </a:r>
          </a:p>
          <a:p>
            <a:r>
              <a:t>- Le Trade 3 génère +24 000 MAD de latent.</a:t>
            </a:r>
          </a:p>
          <a:p>
            <a:r>
              <a:t>- Le Trade 4 (EUR/USD) génère +20 460 MAD via le cross synthétique.</a:t>
            </a:r>
          </a:p>
          <a:p>
            <a:r>
              <a:t>Le total portefeuille ressort exactement à +79 460 MAD, composé de +20 000 MAD réalisé et +59 460 MAD latent.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diapositive démontre notre esprit critique d'ingénieur :</a:t>
            </a:r>
          </a:p>
          <a:p>
            <a:r>
              <a:t>En comparant le FIFO et le CMP sur l'exemple de référence, nous avons constaté une coquille dans le sujet original,</a:t>
            </a:r>
          </a:p>
          <a:p>
            <a:r>
              <a:t>qui indiquait 21 500 MAD en mentionnant 19 500 + 2 000.</a:t>
            </a:r>
          </a:p>
          <a:p>
            <a:r>
              <a:t>Or, 0.04 * 500 000 font exactement 20 000 MAD, ce qui donne un résultat mathématique rigoureux de 22 000 MAD.</a:t>
            </a:r>
          </a:p>
          <a:p>
            <a:r>
              <a:t>Cette correction a été intégrée et documentée dans la section 8.2 de notre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le plan architectural, nous avons déployé l'architecture médaillon conforme aux meilleures pratiques de l'industrie :</a:t>
            </a:r>
          </a:p>
          <a:p>
            <a:r>
              <a:t>- Bronze : stockage brut dans PostgreSQL avec basculement SQLite automatique.</a:t>
            </a:r>
          </a:p>
          <a:p>
            <a:r>
              <a:t>- Silver : transformations SQL modulaires avec dbt pour calculer les cours croisés et le MTM.</a:t>
            </a:r>
          </a:p>
          <a:p>
            <a:r>
              <a:t>- Gold : moteur Python haute performance utilisant des structures en deque pour le débouclage FIFO et la réconciliation.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Dans notre modèle relationnel, un choix de conception majeur concerne la table MARKET_RATE :</a:t>
            </a:r>
          </a:p>
          <a:p>
            <a:r>
              <a:t>Elle n'est délibérément pas reliée par clé étrangère à la table TRADE.</a:t>
            </a:r>
          </a:p>
          <a:p>
            <a:r>
              <a:t>En effet, le cours de valorisation d'un trade est une recherche logique temporelle basée sur la devise et la date,</a:t>
            </a:r>
          </a:p>
          <a:p>
            <a:r>
              <a:t>et non un lien physique statique. Cela permet de rejouer des valorisations historiques ou d'exécuter des stress-tests sans altérer les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L'orchestration est confiée à Apache Airflow :</a:t>
            </a:r>
          </a:p>
          <a:p>
            <a:r>
              <a:t>Le déclenchement quotidien est fixé à 15h35. Le DAG attend d'abord la publication officielle de Bank Al-Maghrib via un Sensor,</a:t>
            </a:r>
          </a:p>
          <a:p>
            <a:r>
              <a:t>puis enchaîne l'ingestion, le dbt run, les tests d'intégrité faisant office de disjoncteur (circuit-breaker),</a:t>
            </a:r>
          </a:p>
          <a:p>
            <a:r>
              <a:t>et enfin le calcul du P&amp;L et la génération du rapport d'audit.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fiabilité de notre solution est démontrée par une suite complète de 10 tests unitaires sous pytest,</a:t>
            </a:r>
          </a:p>
          <a:p>
            <a:r>
              <a:t>exécutés en 0.51 seconde, combinée aux assertions dbt.</a:t>
            </a:r>
          </a:p>
          <a:p>
            <a:r>
              <a:t>Chaque règle métier (BR1 à BR4) et chaque cas d'anomalie de réconciliation est testé et validé mathématiquement.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de réconciliation Front-to-Back (OS6) compare les tickets de négociation Front-Office aux confirmations SWIFT MT300 du Back-Office.</a:t>
            </a:r>
          </a:p>
          <a:p>
            <a:r>
              <a:t>Nous simulons 4 cas de litiges bancaires concrets :</a:t>
            </a:r>
          </a:p>
          <a:p>
            <a:r>
              <a:t>- L'écart de cours (Rate Slippage) sur BMCE (-2 450 MAD).</a:t>
            </a:r>
          </a:p>
          <a:p>
            <a:r>
              <a:t>- L'écart de nominal (Nominal Mismatch) sur Attijariwafa (-100 000 USD suite au plafonnement de la ligne de crédit).</a:t>
            </a:r>
          </a:p>
          <a:p>
            <a:r>
              <a:t>- La transaction non confirmée sur BNP Paribas, générant un risque de change ouvert la nuit.</a:t>
            </a:r>
          </a:p>
          <a:p>
            <a:r>
              <a:t>- Le règlement orphelin de Barclays sans ticket Front-Office.</a:t>
            </a:r>
          </a:p>
          <a:p>
            <a:r>
              <a:t>Notre système calcule automatiquement l'impact financier en MAD et génère un dossier d'audit Excel opposable aux commissaires aux comptes.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ce terminal de marché, nous visualisons l'environnement de cotation multi-actifs.</a:t>
            </a:r>
          </a:p>
          <a:p>
            <a:r>
              <a:t>Comme vous pouvez l'observer sur le graphique en chandeliers japonais, l'or a franchi le cap historique des 4 000 dollars l'once,</a:t>
            </a:r>
          </a:p>
          <a:p>
            <a:r>
              <a:t>s'établissant aujourd'hui autour de 4 038 dollars.</a:t>
            </a:r>
          </a:p>
          <a:p>
            <a:r>
              <a:t>Ce suivi est primordial pour les trésoriers d'entreprises qui utilisent l'or comme réserve de valeur et couverture contre l'inflation.</a:t>
            </a:r>
          </a:p>
          <a:p>
            <a:r>
              <a:t>Le graphique intègre une moyenne mobile à 20 jours et les volumes de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la restitution utilisateur, nous avons conçu une interface professionnelle de type terminal financier (style Murex / Bloomberg) :</a:t>
            </a:r>
          </a:p>
          <a:p>
            <a:r>
              <a:t>Elle est organisée en 6 onglets clairs :</a:t>
            </a:r>
          </a:p>
          <a:p>
            <a:r>
              <a:t>1. Trading Desk &amp; Blotter : formule arithmétique de chaque trade et simulateur d'ordre avant exécution.</a:t>
            </a:r>
          </a:p>
          <a:p>
            <a:r>
              <a:t>2. Hub de Réconciliation FO/BO : détection automatique des anomalies et téléchargement du dossier d'audit Excel en un clic.</a:t>
            </a:r>
          </a:p>
          <a:p>
            <a:r>
              <a:t>3. Live Market Terminal : graphiques en chandeliers et suivi de l'or au-dessus des 4 000 dollars.</a:t>
            </a:r>
          </a:p>
          <a:p>
            <a:r>
              <a:t>4. Comptabilité d'inventaire : comparaison FIFO vs CMP.</a:t>
            </a:r>
          </a:p>
          <a:p>
            <a:r>
              <a:t>5. Stress Testing Bank Al-Maghrib : matrice de sensibilité +/- 5%.</a:t>
            </a:r>
          </a:p>
          <a:p>
            <a:r>
              <a:t>6. Lignage Data Engineering : contrats de données et assertions dbt.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conclure, ce projet allie rigueur mathématique, respect scrupuleux de la réglementation de Bank Al-Maghrib et ingénierie des données moderne.</a:t>
            </a:r>
          </a:p>
          <a:p>
            <a:r>
              <a:t>Le tableau d'alignement avec les critères d'évaluation montre que l'ensemble des exigences académiques et professionnelles ont été satisfaites.</a:t>
            </a:r>
          </a:p>
          <a:p>
            <a:r>
              <a:t>Je remercie chaleureusement mon encadrant académique monsieur Fayçal ZINEDINE (UIR), mon encadrant professionnel monsieur Samir GOURROUM (DXC),</a:t>
            </a:r>
          </a:p>
          <a:p>
            <a:r>
              <a:t>ainsi que l'ensemble des membres du jury pour leur écoute attentive.</a:t>
            </a:r>
          </a:p>
          <a:p>
            <a:r>
              <a:t>Je suis à votre entière disposition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728655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" y="594360"/>
            <a:ext cx="914400" cy="914400"/>
          </a:xfrm>
          <a:prstGeom prst="roundRect">
            <a:avLst/>
          </a:prstGeom>
          <a:solidFill>
            <a:srgbClr val="07356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ir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64008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57400" y="6400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INTERNATIONAL UNIVERSITY OF RABAT (UIR)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School of Data Science and Digital Engineering · Data Engineering (4th Year)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594360"/>
            <a:ext cx="21945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xc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713232"/>
            <a:ext cx="1920240" cy="55674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828800"/>
            <a:ext cx="10728655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PROJET DE FIN D'ANNÉE (PFA) · GRADUATION THESIS DEFENSE</a:t>
            </a:r>
          </a:p>
          <a:p>
            <a:pPr>
              <a:spcBef>
                <a:spcPts val="600"/>
              </a:spcBef>
              <a:defRPr sz="3000" b="1">
                <a:solidFill>
                  <a:srgbClr val="F8FAFC"/>
                </a:solidFill>
                <a:latin typeface="Segoe UI"/>
              </a:defRPr>
            </a:pPr>
            <a:r>
              <a:t>FX Trading Room P&amp;L Application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Design, Development and Automation of a Data Engineering Platform for Foreign Exchange Profit &amp; Loss Monitoring, Calculation, Risk Assessment and Front-to-Back Reconciliation (Accounting Currency: MAD)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Candidate: Mohamed Taha El Qassid (Data Engineering, 4th Year)   |   Academic Year: 2025 – 2026</a:t>
            </a:r>
          </a:p>
          <a:p>
            <a:pPr>
              <a:spcBef>
                <a:spcPts val="3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Academic Supervisor: Fayçal ZINEDINE, UIR   |   Company Supervisor: Samir GOURROUM, DXC Technology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Host Company: DXC Technology Morocco   |   Institution: School of Data Science &amp; Digital Engineering, UIR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01. INTRODUCTION &amp; SCOPING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Business Context &amp; The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The Trading Room Reality</a:t>
            </a:r>
          </a:p>
          <a:p>
            <a:pPr>
              <a:spcBef>
                <a:spcPts val="1000"/>
              </a:spcBef>
              <a:defRPr b="1" sz="1050">
                <a:solidFill>
                  <a:srgbClr val="F8FAFC"/>
                </a:solidFill>
              </a:defRPr>
            </a:pPr>
            <a:r>
              <a:t>• Corporate Flows: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OCP (phosphate export), Renault Tanger (vehicle export/import), and Afriquia (crude oil LC) execute multi-million FX contracts daily.</a:t>
            </a:r>
          </a:p>
          <a:p>
            <a:pPr>
              <a:spcBef>
                <a:spcPts val="1000"/>
              </a:spcBef>
              <a:defRPr b="1" sz="1050">
                <a:solidFill>
                  <a:srgbClr val="F8FAFC"/>
                </a:solidFill>
              </a:defRPr>
            </a:pPr>
            <a:r>
              <a:t>• Market Making: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Trading desks at Attijariwafa, BCP, and BMCE provide two-way pricing and manage intraday currency exposures.</a:t>
            </a:r>
          </a:p>
          <a:p>
            <a:pPr>
              <a:spcBef>
                <a:spcPts val="1000"/>
              </a:spcBef>
              <a:defRPr b="1" sz="1050">
                <a:solidFill>
                  <a:srgbClr val="F8FAFC"/>
                </a:solidFill>
              </a:defRPr>
            </a:pPr>
            <a:r>
              <a:t>• Mandatory BAM Revaluation: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Moroccan banks cannot carry foreign currency books legally. All contracts must revalue into MAD at 15:30 EOD fixing.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Why Legacy Excel Fails</a:t>
            </a:r>
          </a:p>
          <a:p>
            <a:pPr>
              <a:spcBef>
                <a:spcPts val="1000"/>
              </a:spcBef>
              <a:defRPr b="1" sz="1050">
                <a:solidFill>
                  <a:srgbClr val="F43F5E"/>
                </a:solidFill>
              </a:defRPr>
            </a:pPr>
            <a:r>
              <a:t>⚠ Front/Back Discrepancies: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Traders book fast in FO, but Back-Office SWIFT MT300 affirmations differ due to slippage, fees, or partial fills.</a:t>
            </a:r>
          </a:p>
          <a:p>
            <a:pPr>
              <a:spcBef>
                <a:spcPts val="1000"/>
              </a:spcBef>
              <a:defRPr b="1" sz="1050">
                <a:solidFill>
                  <a:srgbClr val="F43F5E"/>
                </a:solidFill>
              </a:defRPr>
            </a:pPr>
            <a:r>
              <a:t>⚠ Cross-Rate Calculation Risk: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Valuing pairs like EUR/USD requires indirect cross multiplication with USD/MAD and EUR/MAD fixings.</a:t>
            </a:r>
          </a:p>
          <a:p>
            <a:pPr>
              <a:spcBef>
                <a:spcPts val="1000"/>
              </a:spcBef>
              <a:defRPr b="1" sz="1050">
                <a:solidFill>
                  <a:srgbClr val="F43F5E"/>
                </a:solidFill>
              </a:defRPr>
            </a:pPr>
            <a:r>
              <a:t>⚠ Inventory Ambiguity: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Inability to track FIFO lot unwinding versus CMP rolling cost causes undetected P&amp;L drift across accounting 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Our Engineering Solution</a:t>
            </a:r>
          </a:p>
          <a:p>
            <a:pPr>
              <a:spcBef>
                <a:spcPts val="1000"/>
              </a:spcBef>
              <a:defRPr b="1" sz="1050">
                <a:solidFill>
                  <a:srgbClr val="10B981"/>
                </a:solidFill>
              </a:defRPr>
            </a:pPr>
            <a:r>
              <a:t>✔ Automated Medallion Pipeline: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Idempotent ingestion -&gt; Bronze staging -&gt; dbt Silver mart -&gt; Gold Python calculation engine.</a:t>
            </a:r>
          </a:p>
          <a:p>
            <a:pPr>
              <a:spcBef>
                <a:spcPts val="1000"/>
              </a:spcBef>
              <a:defRPr b="1" sz="1050">
                <a:solidFill>
                  <a:srgbClr val="10B981"/>
                </a:solidFill>
              </a:defRPr>
            </a:pPr>
            <a:r>
              <a:t>✔ Physical Integrity Enforcement: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Database CHECK constraints &amp; dbt singular tests enforce Total = Realized + Latent (BR3).</a:t>
            </a:r>
          </a:p>
          <a:p>
            <a:pPr>
              <a:spcBef>
                <a:spcPts val="1000"/>
              </a:spcBef>
              <a:defRPr b="1" sz="1050">
                <a:solidFill>
                  <a:srgbClr val="10B981"/>
                </a:solidFill>
              </a:defRPr>
            </a:pPr>
            <a:r>
              <a:t>✔ Live FO/BO Reconciliation: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Automated break matching detecting rate slippages, nominal breaks, and ghost trades with 1-click Excel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02. REGULATORY FOUNDATIONS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Regulatory Framework: Bank Al-Maghrib Currency Basket &amp; Peg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Segoe UI"/>
              </a:defRPr>
            </a:pPr>
            <a:r>
              <a:t>Bank Al-Maghrib Regime Mechanics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Base Currency: MAD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Moroccan Dirham is the statutory accounting currency. Foreign currencies cannot be held as unvalued balances at close.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Basket Weighting (60/40):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The central reference rate anchors to 60% Euro + 40% US Dollar, reflecting Morocco's foreign trade partner structure.</a:t>
            </a:r>
          </a:p>
          <a:p>
            <a:pPr>
              <a:spcBef>
                <a:spcPts val="800"/>
              </a:spcBef>
              <a:defRPr b="1" sz="1100">
                <a:solidFill>
                  <a:srgbClr val="F59E0B"/>
                </a:solidFill>
              </a:defRPr>
            </a:pPr>
            <a:r>
              <a:t>• Central Rate Formulation: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Central Rate = 0.60 * EUR/MAD + 0.40 * USD/MAD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+/- 5% Fluctuation Band: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Official peg band enacted January 2020. Market rates fluctuate within this boundary. Desks must stress-test positions at band extremes.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Statutory EOD Fixing (15:30):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Official fixing published every business day at 15:30 by Bank Al-Maghrib; serves as legal revaluation standard.</a:t>
            </a:r>
          </a:p>
        </p:txBody>
      </p:sp>
      <p:pic>
        <p:nvPicPr>
          <p:cNvPr id="9" name="Picture 8" descr="bam_basket_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5303520" cy="23865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03. FINANCIAL ENGINEERING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Financial Fundamentals &amp; Golden Accounting Invariant (BR3)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3383280" cy="29260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3108960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EA5E9"/>
                </a:solidFill>
                <a:latin typeface="Consolas"/>
              </a:defRPr>
            </a:pPr>
            <a:r>
              <a:t>1. MTM</a:t>
            </a:r>
          </a:p>
          <a:p>
            <a:pPr>
              <a:spcBef>
                <a:spcPts val="2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Mark-to-Market Valuation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Valuation of all open contracts against today's closing BAM fixing rate.</a:t>
            </a:r>
            <a:br/>
            <a:r>
              <a:t>Direct Pair: (Fixing - Traded) * Nominal</a:t>
            </a:r>
            <a:br/>
            <a:r>
              <a:t>Cross Pair: (Fixing_EUR - Traded*Fixing_USD) * Nominal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29260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81328"/>
            <a:ext cx="3108960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Consolas"/>
              </a:defRPr>
            </a:pPr>
            <a:r>
              <a:t>2. REALIZED</a:t>
            </a:r>
          </a:p>
          <a:p>
            <a:pPr>
              <a:spcBef>
                <a:spcPts val="2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Income Statement P&amp;L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Definitive cash profit or loss realized when an open lot is unwound by an opposing trade.</a:t>
            </a:r>
            <a:br/>
            <a:r>
              <a:t>Flows directly into the bank's Income Statement (Compte de résultat).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29260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481328"/>
            <a:ext cx="3108960" cy="2706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Consolas"/>
              </a:defRPr>
            </a:pPr>
            <a:r>
              <a:t>3. LATENT</a:t>
            </a:r>
          </a:p>
          <a:p>
            <a:pPr>
              <a:spcBef>
                <a:spcPts val="2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Balance Sheet Reserve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Unrealized paper gain or loss on positions carried open overnight.</a:t>
            </a:r>
            <a:br/>
            <a:r>
              <a:t>Recorded on the Balance Sheet (Capitaux propres) as revaluation reserve.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THE GOLDEN ACCOUNTING INVARIANT (BUSINESS RULE BR3)</a:t>
            </a:r>
          </a:p>
          <a:p>
            <a:pPr>
              <a:spcBef>
                <a:spcPts val="400"/>
              </a:spcBef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Total MTM P&amp;L = Realized P&amp;L + Unrealized (Latent) P&amp;L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Enforcement: Enforced at database engine level via PostgreSQL CHECK (ROUND(total_mad, 2) = ROUND(realized_mad + unrealized_mad, 2)) and singular dbt SQL assertions. Guaranteed zero financial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04. MATHEMATICAL PROOF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Case Study Validation: The 4 Benchmark Trades (+79,460 MAD)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Validation on Report Table 2.2 – 2.4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T1: USD/MAD Buy 1M @ 9.9200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BAM Fixing: 9.9500 MAD</a:t>
            </a:r>
            <a:br/>
            <a:r>
              <a:t>Formula: (9.95 - 9.92) * 1M = +30,000 MAD (MTM)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T2: USD/MAD Sell 500k @ 9.9600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Unwinds 500k of T1:</a:t>
            </a:r>
            <a:br/>
            <a:r>
              <a:t>Realized Cash = (9.96 - 9.92) * 500k = +20,000 MAD</a:t>
            </a:r>
            <a:br/>
            <a:r>
              <a:t>Remaining 500k Latent = (9.95 - 9.92) * 500k = +15,000 MAD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T3: EUR/MAD Buy 800k @ 10.7700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BAM Fixing: 10.8000 MAD</a:t>
            </a:r>
            <a:br/>
            <a:r>
              <a:t>Formula: (10.80 - 10.77) * 800k = +24,000 MAD (Latent)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T4: EUR/USD Buy 600k @ 1.0820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Synthetic Triangular Revaluation:</a:t>
            </a:r>
            <a:br/>
            <a:r>
              <a:t>(10.80 - (1.0820 * 9.95)) * 600k = +20,460 MAD (Latent)</a:t>
            </a:r>
          </a:p>
          <a:p>
            <a:br/>
            <a:pPr>
              <a:defRPr b="1" sz="1050">
                <a:solidFill>
                  <a:srgbClr val="10B981"/>
                </a:solidFill>
              </a:defRPr>
            </a:pPr>
            <a:r>
              <a:t>PORTFOLIO RESULT: Total MTM = +79,460 MAD</a:t>
            </a:r>
            <a:br/>
            <a:r>
              <a:t>Realized = +20,000 MAD | Latent = +59,460 MAD (100% Match)</a:t>
            </a:r>
          </a:p>
        </p:txBody>
      </p:sp>
      <p:pic>
        <p:nvPicPr>
          <p:cNvPr id="9" name="Picture 8" descr="benchmark_p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05. ALGORITHMIC INTEGRITY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Inventory Accounting: FIFO vs. CMP &amp; Brief Audit Correction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Section 4 Proof: 2 Buys + 1 Partial Sale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Position Setup: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Buy 1: 500k USD @ 9.9100  |  Buy 2: 500k USD @ 9.9300</a:t>
            </a:r>
            <a:br/>
            <a:r>
              <a:t>Sale: 600k USD @ 9.9500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FIFO Realized (Murex Standard):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Lot 1 fully exhausted: (9.95 - 9.91) * 500k = +20,000 MAD</a:t>
            </a:r>
            <a:br/>
            <a:r>
              <a:t>Lot 2 partially sold: (9.95 - 9.93) * 100k = +2,000 MAD</a:t>
            </a:r>
            <a:br/>
            <a:r>
              <a:t>Total FIFO Realized = +22,000 MAD (Residual 400k @ 9.93)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CMP Realized (Moroccan Accounting):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Average Purchase Cost = (500k*9.91 + 500k*9.93)/1M = 9.9200 MAD</a:t>
            </a:r>
            <a:br/>
            <a:r>
              <a:t>Realized = (9.95 - 9.92) * 600k = +18,000 MAD (Residual 400k @ 9.92)</a:t>
            </a:r>
          </a:p>
          <a:p>
            <a:pPr>
              <a:spcBef>
                <a:spcPts val="600"/>
              </a:spcBef>
              <a:defRPr b="1" sz="1050">
                <a:solidFill>
                  <a:srgbClr val="F59E0B"/>
                </a:solidFill>
              </a:defRPr>
            </a:pPr>
            <a:r>
              <a:t>• Audit Discovery (Report Section 8.2):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The initial brief prose stated '21,500 MAD (19,500 + 2,000)' due to a drafting typo. Our data engine mathematically audited and proved the true figure of 22,000 MAD.</a:t>
            </a:r>
          </a:p>
        </p:txBody>
      </p:sp>
      <p:pic>
        <p:nvPicPr>
          <p:cNvPr id="9" name="Picture 8" descr="fifo_vs_c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5303520" cy="25121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06. SYSTEM ARCHITECTURE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System Architecture: Medallion Data Engineering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pic>
        <p:nvPicPr>
          <p:cNvPr id="7" name="Picture 6" descr="pipeline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10728655" cy="48278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389120"/>
            <a:ext cx="338328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31089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EA5E9"/>
                </a:solidFill>
                <a:latin typeface="Consolas"/>
              </a:defRPr>
            </a:pPr>
            <a:r>
              <a:t>BRONZE</a:t>
            </a:r>
          </a:p>
          <a:p>
            <a:pPr>
              <a:spcBef>
                <a:spcPts val="2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Raw Ingestion Layer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Ingestion from CSV / REST APIs</a:t>
            </a:r>
            <a:br/>
            <a:r>
              <a:t>• PostgreSQL / SQLite dual adapter</a:t>
            </a:r>
            <a:br/>
            <a:r>
              <a:t>• Idempotent deduplication via source_ref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389120"/>
            <a:ext cx="338328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498848"/>
            <a:ext cx="31089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Consolas"/>
              </a:defRPr>
            </a:pPr>
            <a:r>
              <a:t>SILVER</a:t>
            </a:r>
          </a:p>
          <a:p>
            <a:pPr>
              <a:spcBef>
                <a:spcPts val="2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Transformation Layer (dbt)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Pure SQL marts (fact_trade_mtm)</a:t>
            </a:r>
            <a:br/>
            <a:r>
              <a:t>• Synthetic cross-rate conversions</a:t>
            </a:r>
            <a:br/>
            <a:r>
              <a:t>• Automated dbt singular test quality gates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389120"/>
            <a:ext cx="3383280" cy="201168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4498848"/>
            <a:ext cx="310896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Consolas"/>
              </a:defRPr>
            </a:pPr>
            <a:r>
              <a:t>GOLD</a:t>
            </a:r>
          </a:p>
          <a:p>
            <a:pPr>
              <a:spcBef>
                <a:spcPts val="2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Calculation &amp; Reconciliation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Python FIFO deque matching engine</a:t>
            </a:r>
            <a:br/>
            <a:r>
              <a:t>• FO vs. BO reconciliation (OS6)</a:t>
            </a:r>
            <a:br/>
            <a:r>
              <a:t>• daily_pnl persistence &amp; Excel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07. DATA MODELING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Data Modeling: Relational Schema &amp; The Logical Lookup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Relational Entities (Report Figure 5.1)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BOOK: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Stores trading desk metadata, assigned trader, default accounting method (FIFO/WAC), and stop-loss limits in MAD.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TRADE: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Stores individual Front-Office deals: book_id, currency_pair, direction, nominal, traded rate, execution timestamp, and source_ref.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BACKOFFICE_SETTLEMENT: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Stores Back-Office SWIFT MT300 settlement confirmations: settled nominal, settled rate, value date, and counterparty.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DAILY_PNL: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Stores calculated EOD figures: realized_mad, unrealized_mad, total_mad. Protected by physical CHECK constraint.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Architectural Design Decision (Report Section 5.1)</a:t>
            </a:r>
          </a:p>
          <a:p>
            <a:pPr>
              <a:spcBef>
                <a:spcPts val="1000"/>
              </a:spcBef>
              <a:defRPr b="1" sz="1100">
                <a:solidFill>
                  <a:srgbClr val="F8FAFC"/>
                </a:solidFill>
              </a:defRPr>
            </a:pPr>
            <a:r>
              <a:t>✔ Why MARKET_RATE Has No Foreign Key: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Deliberate design choice: A trade's closing rate is a temporal, logical lookup resolved dynamically at valuation time (by currency_pair and date), not a fixed relational dependency. Linking them with a hard foreign key would prevent revaluing trades against historical or simulated fixings.</a:t>
            </a:r>
          </a:p>
          <a:p>
            <a:pPr>
              <a:spcBef>
                <a:spcPts val="1000"/>
              </a:spcBef>
              <a:defRPr b="1" sz="1100">
                <a:solidFill>
                  <a:srgbClr val="F8FAFC"/>
                </a:solidFill>
              </a:defRPr>
            </a:pPr>
            <a:r>
              <a:t>✔ Precision &amp; Numerical Types: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floating-point rounding errors: All nominals, rates, and P&amp;L metrics use NUMERIC(18,4) and NUMERIC(18,2) types.</a:t>
            </a:r>
          </a:p>
          <a:p>
            <a:pPr>
              <a:spcBef>
                <a:spcPts val="1000"/>
              </a:spcBef>
              <a:defRPr b="1" sz="1100">
                <a:solidFill>
                  <a:srgbClr val="F8FAFC"/>
                </a:solidFill>
              </a:defRPr>
            </a:pPr>
            <a:r>
              <a:t>✔ Temporal Audit Trail: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 point-in-time reproducibility: historical EOD rates are preserved immutably, ensuring retroactive auditability.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08. WORKFLOW AUTOMATION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Pipeline Orchestration: Apache Airflow DAG at 15:35 EOD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EOD Workflow: 'fx_pnl_daily_closing'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• CRON: 35 15 * * 1-5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Triggered at 15:35 every business day, exactly 5 minutes after Bank Al-Maghrib publishes the fixing.</a:t>
            </a:r>
          </a:p>
          <a:p>
            <a:pPr>
              <a:spcBef>
                <a:spcPts val="500"/>
              </a:spcBef>
              <a:defRPr b="1" sz="1050">
                <a:solidFill>
                  <a:srgbClr val="10B981"/>
                </a:solidFill>
              </a:defRPr>
            </a:pPr>
            <a:r>
              <a:t>• 1. wait_for_bam_fixing (Sensor):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Polls the market fixing table; retries with exponential backoff if BAM publication is delayed.</a:t>
            </a:r>
          </a:p>
          <a:p>
            <a:pPr>
              <a:spcBef>
                <a:spcPts val="500"/>
              </a:spcBef>
              <a:defRPr b="1" sz="1050">
                <a:solidFill>
                  <a:srgbClr val="10B981"/>
                </a:solidFill>
              </a:defRPr>
            </a:pPr>
            <a:r>
              <a:t>• 2. ingest_eod_trades (PythonOperator):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Extracts raw FO tickets and BO SWIFT records into Bronze staging tables.</a:t>
            </a:r>
          </a:p>
          <a:p>
            <a:pPr>
              <a:spcBef>
                <a:spcPts val="500"/>
              </a:spcBef>
              <a:defRPr b="1" sz="1050">
                <a:solidFill>
                  <a:srgbClr val="10B981"/>
                </a:solidFill>
              </a:defRPr>
            </a:pPr>
            <a:r>
              <a:t>• 3. dbt_run_mtm (BashOperator):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Compiles and executes dbt Silver marts (fact_trade_mtm).</a:t>
            </a:r>
          </a:p>
          <a:p>
            <a:pPr>
              <a:spcBef>
                <a:spcPts val="500"/>
              </a:spcBef>
              <a:defRPr b="1" sz="1050">
                <a:solidFill>
                  <a:srgbClr val="10B981"/>
                </a:solidFill>
              </a:defRPr>
            </a:pPr>
            <a:r>
              <a:t>• 4. dbt_test_integrity: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Executes singular assertion tests. Acts as a circuit-breaker halting the run if errors occur.</a:t>
            </a:r>
          </a:p>
          <a:p>
            <a:pPr>
              <a:spcBef>
                <a:spcPts val="500"/>
              </a:spcBef>
              <a:defRPr b="1" sz="1050">
                <a:solidFill>
                  <a:srgbClr val="F8FAFC"/>
                </a:solidFill>
              </a:defRPr>
            </a:pPr>
            <a:r>
              <a:t>• 5. compute_fifo_pnl &amp; reconcile_fo_bo: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Executes the Gold Python engine, writes to daily_pnl, and generates the audit package.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Production Engineering Guarantees</a:t>
            </a:r>
          </a:p>
          <a:p>
            <a:pPr>
              <a:spcBef>
                <a:spcPts val="1000"/>
              </a:spcBef>
              <a:defRPr b="1" sz="1100">
                <a:solidFill>
                  <a:srgbClr val="F8FAFC"/>
                </a:solidFill>
              </a:defRPr>
            </a:pPr>
            <a:r>
              <a:t>✔ Idempotency Guaranteed: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Any historical date can be re-run safely without corrupting data or duplicating P&amp;L records.</a:t>
            </a:r>
          </a:p>
          <a:p>
            <a:pPr>
              <a:spcBef>
                <a:spcPts val="1000"/>
              </a:spcBef>
              <a:defRPr b="1" sz="1100">
                <a:solidFill>
                  <a:srgbClr val="F8FAFC"/>
                </a:solidFill>
              </a:defRPr>
            </a:pPr>
            <a:r>
              <a:t>✔ Circuit-Breaker Quality Gates: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If a dbt test fails (e.g. rate &lt;= 0 or Total != Realized + Latent), the pipeline fails fast before bad data reaches reporting.</a:t>
            </a:r>
          </a:p>
          <a:p>
            <a:pPr>
              <a:spcBef>
                <a:spcPts val="1000"/>
              </a:spcBef>
              <a:defRPr b="1" sz="1100">
                <a:solidFill>
                  <a:srgbClr val="F8FAFC"/>
                </a:solidFill>
              </a:defRPr>
            </a:pPr>
            <a:r>
              <a:t>✔ Disaster Recovery Fallback: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Transparent failover from PostgreSQL container to local SQLite database if infrastructure issues occur.</a:t>
            </a:r>
          </a:p>
          <a:p>
            <a:pPr>
              <a:spcBef>
                <a:spcPts val="1000"/>
              </a:spcBef>
              <a:defRPr b="1" sz="1100">
                <a:solidFill>
                  <a:srgbClr val="F8FAFC"/>
                </a:solidFill>
              </a:defRPr>
            </a:pPr>
            <a:r>
              <a:t>✔ Auditable Logging: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Every step produces execution logs, task run duration, and status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09. QUALITY ASSURANCE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Automated Testing &amp; Data Quality Contracts (10/10 PASS)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Automated Pytest Suite (10 Tests in 0.51s)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test_individual_trade_mtm: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Validates exact MTM on USD/MAD, EUR/MAD, and cross EUR/USD.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test_realized_and_unrealized_split: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Confirms +20k MAD Realized and +59,460 MAD Latent split.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test_supporting_example_fifo_vs_cmp: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Validates +22k FIFO vs +18k CMP on 2 purchases + 1 sale.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test_business_rule_br3_identity: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Validates Total = Realized + Latent on 100 random deals.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test_reconciliation_exact_matches: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Verifies 0 discrepancies on clean matched trades.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test_reconciliation_rate_slippage: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Detects pip-level price variance and computes MAD impact.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test_reconciliation_nominal_mismatch: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Detects partial fills and credit ceiling cuts.</a:t>
            </a:r>
          </a:p>
          <a:p>
            <a:pPr>
              <a:spcBef>
                <a:spcPts val="300"/>
              </a:spcBef>
              <a:defRPr b="1" sz="1000">
                <a:solidFill>
                  <a:srgbClr val="10B981"/>
                </a:solidFill>
              </a:defRPr>
            </a:pPr>
            <a:r>
              <a:t>✔ test_reconciliation_unconfirmed_trade: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Flags ghost trades with missing SWIFT confirmations.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dbt Automated Data Contracts (Report Tab 8.1)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BR1: BAM Rate Conversion  [PASS]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Guarantees every currency pair resolves to MAD closing rate; rejects null rates.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BR2: Rate Revaluation  [PASS]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Verifies all open tickets are revalued at today's official Bank Al-Maghrib fixing.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BR3: Accounting Invariant  [PASS]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Singular SQL test: SELECT * WHERE ROUND(total) != ROUND(realized + latent). Must return 0.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BR4: FIFO Chronological Order  [PASS]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Verifies queue unwinding cannot consume a newer lot before earlier timestamped lots.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Idempotent Deduplication  [PASS]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source_ref uniqueness constraint prevents duplicate trade bookings.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10. RECONCILIATION HUB (OS6)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Front-to-Back Reconciliation: Auditing the 4 Banking Breaks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The 4 Real-World Banking Breaks Simulated</a:t>
            </a:r>
          </a:p>
          <a:p>
            <a:pPr>
              <a:spcBef>
                <a:spcPts val="600"/>
              </a:spcBef>
              <a:defRPr b="1" sz="1050">
                <a:solidFill>
                  <a:srgbClr val="F43F5E"/>
                </a:solidFill>
              </a:defRPr>
            </a:pPr>
            <a:r>
              <a:t>⚠ Break 1: Rate Slippage (BMCE Bank of Africa)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FO booked EUR/MAD @ 10.7950, but BO confirmation arrived @ 10.7985 (+35 pips / -2,450 MAD variance due to interbank spread).</a:t>
            </a:r>
          </a:p>
          <a:p>
            <a:pPr>
              <a:spcBef>
                <a:spcPts val="600"/>
              </a:spcBef>
              <a:defRPr b="1" sz="1050">
                <a:solidFill>
                  <a:srgbClr val="F43F5E"/>
                </a:solidFill>
              </a:defRPr>
            </a:pPr>
            <a:r>
              <a:t>⚠ Break 2: Nominal Mismatch (Attijariwafa Bank)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FO booked 1.5M USD, but BO settled only 1.4M USD (-100k USD missing because the counterparty's intraday credit ceiling was reached).</a:t>
            </a:r>
          </a:p>
          <a:p>
            <a:pPr>
              <a:spcBef>
                <a:spcPts val="600"/>
              </a:spcBef>
              <a:defRPr b="1" sz="1050">
                <a:solidFill>
                  <a:srgbClr val="F43F5E"/>
                </a:solidFill>
              </a:defRPr>
            </a:pPr>
            <a:r>
              <a:t>⚠ Break 3: Unconfirmed SWIFT MT300 (BNP Paribas)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FO trader executed EUR/USD 500k at 17:15, but BO received no affirmation message. Poses unhedged overnight currency risk.</a:t>
            </a:r>
          </a:p>
          <a:p>
            <a:pPr>
              <a:spcBef>
                <a:spcPts val="600"/>
              </a:spcBef>
              <a:defRPr b="1" sz="1050">
                <a:solidFill>
                  <a:srgbClr val="F43F5E"/>
                </a:solidFill>
              </a:defRPr>
            </a:pPr>
            <a:r>
              <a:t>⚠ Break 4: Orphan Settlement (Barclays Bank)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BO received confirmed settlement for 300k GBP, but no FO ticket was booked. Detects rogue or unrecorded dealer trades.</a:t>
            </a:r>
          </a:p>
        </p:txBody>
      </p:sp>
      <p:pic>
        <p:nvPicPr>
          <p:cNvPr id="9" name="Picture 8" descr="fo_bo_brea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5303520" cy="2512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11. MARKET DYNAMICS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Live Market Terminal &amp; LBMA Gold Crossing Above $4,000/oz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Multi-Asset Monitoring &amp; Gold Dynamics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Multi-Asset Universe: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USD/MAD &amp; EUR/MAD (BAM Fixing)</a:t>
            </a:r>
            <a:br/>
            <a:r>
              <a:t>• EUR/USD &amp; GBP/MAD (Cross &amp; Interbank)</a:t>
            </a:r>
            <a:br/>
            <a:r>
              <a:t>• XAU/USD (LBMA Gold Spot Benchmark)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The Historic $4,000/oz Breakthrough: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Gold crossed the historic resistance milestone of $4,000 / oz (trading at $4,038.50). In our platform, corporate treasuries monitor gold as a sovereign inflation and currency hedge.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Institutional Technical Analysis: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Dual-pane financial charting: Candlesticks (green/red), 20-period Simple Moving Average (SMA), and trading volume histograms.</a:t>
            </a:r>
          </a:p>
          <a:p>
            <a:pPr>
              <a:spcBef>
                <a:spcPts val="600"/>
              </a:spcBef>
              <a:defRPr b="1" sz="1050">
                <a:solidFill>
                  <a:srgbClr val="F8FAFC"/>
                </a:solidFill>
              </a:defRPr>
            </a:pPr>
            <a:r>
              <a:t>• BAM Live Feed Integration: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Integrated live REST feed pulling quotes and instantly updating central basket rates.</a:t>
            </a:r>
          </a:p>
        </p:txBody>
      </p:sp>
      <p:pic>
        <p:nvPicPr>
          <p:cNvPr id="9" name="Picture 8" descr="gold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5303520" cy="25121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12. APPLICATION INTERFACE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Interactive Trading Terminal: Streamlit Multi-Tab Workspace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Tab 1: Trading Desk &amp; Blotter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Active portfolio KPIs (Total MTM, Realized, Latent), trade blotter with explicit mathematical formulas in MAD, and pre-trade deal ticket simulator.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Tab 2: FO / BO Reconciliation Hub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Comprehensive discrepancy detection (rate slippage, nominal break, unconfirmed SWIFT), pips variance, and 1-click Excel audit package download.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Tab 3: Live Market Browser &amp; Gold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Interactive dual-pane financial charting: Candlesticks, 20-period SMA, volume histograms, and LBMA Gold $4,000 breakthrough marker.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521208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Tab 4: Inventory Accounting (FIFO/CMP)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Visual step-by-step demonstration of Section 4 lot depletion, explaining convergence upon closure and the brief's arithmetic audit note.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Tab 5: BAM Fluctuation Band Matrix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Stress-testing matrix simulating +/- 1%, +/- 3%, and +/- 5% currency basket boundary shifts and stop-loss breach alerts.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Tab 6: Data Engineering Lineage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End-to-end architecture diagram, dbt test results table, and Airflow DAG orchestration contract enforcement.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Segoe UI"/>
              </a:defRPr>
            </a:pPr>
            <a:r>
              <a:t>13. CONCLUSION &amp; DEFENSE</a:t>
            </a:r>
          </a:p>
          <a:p>
            <a:pPr>
              <a:spcBef>
                <a:spcPts val="200"/>
              </a:spcBef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Evaluation Criteria Alignment, Conclusion &amp; Perspectives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347472"/>
            <a:ext cx="10972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xc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02336"/>
            <a:ext cx="1005840" cy="2916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646920" y="347472"/>
            <a:ext cx="594360" cy="502920"/>
          </a:xfrm>
          <a:prstGeom prst="roundRect">
            <a:avLst/>
          </a:prstGeom>
          <a:solidFill>
            <a:srgbClr val="07356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r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Alignment with Evaluation Criteria (Report Tab 10.3)</a:t>
            </a:r>
          </a:p>
          <a:p>
            <a:pPr>
              <a:spcBef>
                <a:spcPts val="400"/>
              </a:spcBef>
              <a:defRPr b="1" sz="1000">
                <a:solidFill>
                  <a:srgbClr val="F8FAFC"/>
                </a:solidFill>
              </a:defRPr>
            </a:pPr>
            <a:r>
              <a:t>✔ Business-Domain Mastery (25%):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Full compliance with Bank Al-Maghrib peg, MTM, Realized/Latent, and validated corrections to source brief.</a:t>
            </a:r>
          </a:p>
          <a:p>
            <a:pPr>
              <a:spcBef>
                <a:spcPts val="400"/>
              </a:spcBef>
              <a:defRPr b="1" sz="1000">
                <a:solidFill>
                  <a:srgbClr val="F8FAFC"/>
                </a:solidFill>
              </a:defRPr>
            </a:pPr>
            <a:r>
              <a:t>✔ Design Quality (20%):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Medallion layered pipeline (Bronze/Silver/Gold), ERD with logical lookup, and UML models.</a:t>
            </a:r>
          </a:p>
          <a:p>
            <a:pPr>
              <a:spcBef>
                <a:spcPts val="400"/>
              </a:spcBef>
              <a:defRPr b="1" sz="1000">
                <a:solidFill>
                  <a:srgbClr val="F8FAFC"/>
                </a:solidFill>
              </a:defRPr>
            </a:pPr>
            <a:r>
              <a:t>✔ Development Quality (25%):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10/10 automated tests, dbt data contracts, and dual PostgreSQL/SQLite storage adapter.</a:t>
            </a:r>
          </a:p>
          <a:p>
            <a:pPr>
              <a:spcBef>
                <a:spcPts val="400"/>
              </a:spcBef>
              <a:defRPr b="1" sz="1000">
                <a:solidFill>
                  <a:srgbClr val="F8FAFC"/>
                </a:solidFill>
              </a:defRPr>
            </a:pPr>
            <a:r>
              <a:t>✔ Relevance of Results (15%):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Validated benchmark dataset (+79,460 MAD) and realistic FO/BO reconciliation breaks.</a:t>
            </a:r>
          </a:p>
          <a:p>
            <a:pPr>
              <a:spcBef>
                <a:spcPts val="400"/>
              </a:spcBef>
              <a:defRPr b="1" sz="1000">
                <a:solidFill>
                  <a:srgbClr val="F8FAFC"/>
                </a:solidFill>
              </a:defRPr>
            </a:pPr>
            <a:r>
              <a:t>✔ Documentation &amp; Report (10%):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Comprehensive 33-page technical thesis report and reproducible deployment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Future Technical Perspectives</a:t>
            </a:r>
          </a:p>
          <a:p>
            <a:pPr>
              <a:spcBef>
                <a:spcPts val="800"/>
              </a:spcBef>
              <a:defRPr b="1" sz="1100">
                <a:solidFill>
                  <a:srgbClr val="F59E0B"/>
                </a:solidFill>
              </a:defRPr>
            </a:pPr>
            <a:r>
              <a:t>➔ Real-Time Kafka Streaming: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Transition from 15:35 EOD batch processing to sub-second tick-by-tick real-time position keeping via Apache Kafka.</a:t>
            </a:r>
          </a:p>
          <a:p>
            <a:pPr>
              <a:spcBef>
                <a:spcPts val="800"/>
              </a:spcBef>
              <a:defRPr b="1" sz="1100">
                <a:solidFill>
                  <a:srgbClr val="F59E0B"/>
                </a:solidFill>
              </a:defRPr>
            </a:pPr>
            <a:r>
              <a:t>➔ SWIFT MT300 Direct Parser: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Automated ingestion of raw ISO 15022/20022 SWIFT confirmation messages directly from interbank networks.</a:t>
            </a:r>
          </a:p>
          <a:p>
            <a:pPr>
              <a:spcBef>
                <a:spcPts val="800"/>
              </a:spcBef>
              <a:defRPr b="1" sz="1100">
                <a:solidFill>
                  <a:srgbClr val="F59E0B"/>
                </a:solidFill>
              </a:defRPr>
            </a:pPr>
            <a:r>
              <a:t>➔ Multi-Factor Monte Carlo VaR: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Advanced Value-at-Risk modeling across non-linear currency options and structural FX forward curves.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Thank you for your attention.</a:t>
            </a:r>
            <a:br/>
            <a:r>
              <a:t>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