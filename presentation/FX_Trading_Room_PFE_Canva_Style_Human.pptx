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Bonjour messieurs les membres du jury, monsieur Zinedine, monsieur Gourroum.</a:t>
            </a:r>
          </a:p>
          <a:p>
            <a:r>
              <a:t>Je m'appelle Mohamed Taha El Qassid, étudiant en 4ème année Data Engineering à l'UIR.</a:t>
            </a:r>
          </a:p>
          <a:p>
            <a:r>
              <a:t>Je suis ravi de vous présenter mon projet de fin d'année réalisé au sein de DXC Technology :</a:t>
            </a:r>
          </a:p>
          <a:p>
            <a:r>
              <a:t>une plateforme d'ingénierie des données pour le calcul du P&amp;L et la réconciliation Front-to-Back dans une salle de marché FX.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Pour expliquer simplement le besoin :</a:t>
            </a:r>
          </a:p>
          <a:p>
            <a:r>
              <a:t>Une salle de marché achète et vend des devises pour de grands clients comme OCP ou Renault.</a:t>
            </a:r>
          </a:p>
          <a:p>
            <a:r>
              <a:t>La réglementation de Bank Al-Maghrib oblige chaque jour à 15h30 à réévaluer chaque transaction en Dirhams marocains.</a:t>
            </a:r>
          </a:p>
          <a:p>
            <a:r>
              <a:t>Gérer cela manuellement sur Excel provoque des erreurs graves : décalages de cours entre le trader et la confirmation bancaire,</a:t>
            </a:r>
          </a:p>
          <a:p>
            <a:r>
              <a:t>ou transactions oubliées. Notre projet automatise complètement cette chaîne.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Voici la démonstration directe sur les 4 transactions du cahier des charges :</a:t>
            </a:r>
          </a:p>
          <a:p>
            <a:r>
              <a:t>Trade 1 et Trade 2 sur le Dollar, Trade 3 sur l'Euro, et Trade 4 sur le cross EUR/USD.</a:t>
            </a:r>
          </a:p>
          <a:p>
            <a:r>
              <a:t>Le résultat final est limpide : +79 460 MAD de gain total,</a:t>
            </a:r>
          </a:p>
          <a:p>
            <a:r>
              <a:t>décomposé en +20 000 MAD de cash réalisé et +59 460 MAD de gain latent.</a:t>
            </a:r>
          </a:p>
          <a:p>
            <a:r>
              <a:t>L'égalité fondamentale Total = Réalisé + Latent est rigoureusement vérifiée.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Ici, nous montrons un esprit d'analyse concret :</a:t>
            </a:r>
          </a:p>
          <a:p>
            <a:r>
              <a:t>En comparant le FIFO et le CMP, nous avons décelé une petite erreur de frappe dans le texte d'origine du sujet qui indiquait 21 500 MAD.</a:t>
            </a:r>
          </a:p>
          <a:p>
            <a:r>
              <a:t>Notre programme a recalculé les fractions au centime près et prouve que le vrai résultat arithmétique est de 22 000 MAD.</a:t>
            </a:r>
          </a:p>
          <a:p>
            <a:r>
              <a:t>C'est un point très apprécié par le jury car il prouve qu'on n'a pas recopié aveuglément mais qu'on a vérifié chaque formule.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slide montre l'utilité concrète pour DXC et les banques :</a:t>
            </a:r>
          </a:p>
          <a:p>
            <a:r>
              <a:t>Nous avons programmé 4 scénarios réels de litiges bancaires :</a:t>
            </a:r>
          </a:p>
          <a:p>
            <a:r>
              <a:t>1. Écart de cours de 35 pips sur BMCE.</a:t>
            </a:r>
          </a:p>
          <a:p>
            <a:r>
              <a:t>2. Écart de nominal de 100k USD sur Attijariwafa parce que la ligne de crédit a bloqué.</a:t>
            </a:r>
          </a:p>
          <a:p>
            <a:r>
              <a:t>3. Transaction sans confirmation SWIFT sur BNP, qui crée un risque de change la nuit.</a:t>
            </a:r>
          </a:p>
          <a:p>
            <a:r>
              <a:t>4. Règlement reçu de Barclays sans ticket Front-Office.</a:t>
            </a:r>
          </a:p>
          <a:p>
            <a:r>
              <a:t>Le système affiche le statut de chaque ticket et génère le fichier Excel pour l'audit.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tant qu'étudiant en Data Engineering, voici notre stack technique :</a:t>
            </a:r>
          </a:p>
          <a:p>
            <a:r>
              <a:t>1. Ingestion propre et idempotente dans PostgreSQL avec basculement automatique sur SQLite.</a:t>
            </a:r>
          </a:p>
          <a:p>
            <a:r>
              <a:t>2. Transformations avec dbt en SQL.</a:t>
            </a:r>
          </a:p>
          <a:p>
            <a:r>
              <a:t>3. Moteur de calcul en Python avec file deque pour le FIFO.</a:t>
            </a:r>
          </a:p>
          <a:p>
            <a:r>
              <a:t>L'ensemble tourne automatiquement sous Airflow à 15h35 et est validé par 10 tests unitaires réussis à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 notre interface Streamlit, nous avons créé un vrai poste de travail pour la salle :</a:t>
            </a:r>
          </a:p>
          <a:p>
            <a:r>
              <a:t>Un bandeau de fixing en direct, le détail des formules mathématiques sur chaque trade,</a:t>
            </a:r>
          </a:p>
          <a:p>
            <a:r>
              <a:t>le module de réconciliation avec téléchargement Excel,</a:t>
            </a:r>
          </a:p>
          <a:p>
            <a:r>
              <a:t>et le suivi des cours en chandeliers avec l'or qui dépasse 4 000 dollars l'once comme couverture d'inflation.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Pour conclure : ce projet m'a permis d'appliquer concrètement ma formation d'ingénieur en Data Engineering</a:t>
            </a:r>
          </a:p>
          <a:p>
            <a:r>
              <a:t>à un cas réel de salle de marché chez DXC Technology.</a:t>
            </a:r>
          </a:p>
          <a:p>
            <a:r>
              <a:t>L'ensemble des objectifs du sujet a été atteint et validé.</a:t>
            </a:r>
          </a:p>
          <a:p>
            <a:r>
              <a:t>Je remercie mon encadrant académique M. Zinedine, mon encadrant professionnel M. Gourroum,</a:t>
            </a:r>
          </a:p>
          <a:p>
            <a:r>
              <a:t>et je suis à votre disposition pour vos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011680" cy="10058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[ Glissez votre Logo UIR ici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48495" y="548640"/>
            <a:ext cx="2011680" cy="10058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[ Glissez votre Logo DXC ici 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PROJET DE FIN D'ANNÉE · 4ÈME ANNÉE DATA ENGINEERING</a:t>
            </a:r>
          </a:p>
          <a:p>
            <a:pPr>
              <a:spcBef>
                <a:spcPts val="600"/>
              </a:spcBef>
              <a:defRPr sz="3200" b="1">
                <a:solidFill>
                  <a:srgbClr val="0F172A"/>
                </a:solidFill>
                <a:latin typeface="Arial"/>
              </a:defRPr>
            </a:pPr>
            <a:r>
              <a:t>Application P&amp;L FX Salle de Marché</a:t>
            </a:r>
          </a:p>
          <a:p>
            <a:pPr>
              <a:spcBef>
                <a:spcPts val="6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Calcul du Profit &amp; Loss, réconciliation Front-to-Back et conformité Bank Al-Maghrib (Devise MAD)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10728655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39496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Arial"/>
              </a:defRPr>
            </a:pPr>
            <a:r>
              <a:t>Étudiant : Mohamed Taha El Qassid  |  UIR — École Supérieure d'Ingénierie Numérique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Encadrant Académique : M. Fayçal ZINEDINE (UIR)   ·   Encadrant Entreprise : M. Samir GOURROUM (DXC Technology)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01. CONTEXTE MÉTIER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Pourquoi ce projet ? Le problème en 3 points simples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0" y="411480"/>
            <a:ext cx="1005840" cy="6400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[ Logo UIR 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411480"/>
            <a:ext cx="1005840" cy="6400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[ Logo DXC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Arial"/>
              </a:defRPr>
            </a:pPr>
            <a:r>
              <a:t>1. Les flux du marché marocain</a:t>
            </a:r>
          </a:p>
          <a:p>
            <a:pPr>
              <a:spcBef>
                <a:spcPts val="14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• Des entreprises marocaines comme OCP ou Renault échangent des millions en USD et EUR.</a:t>
            </a:r>
            <a:br/>
            <a:br/>
            <a:r>
              <a:t>• La salle de marché de la banque sert d'intermédiaire et prend des positions pour couvrir ses clients.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  <a:latin typeface="Arial"/>
              </a:defRPr>
            </a:pPr>
            <a:r>
              <a:t>2. La contrainte Bank Al-Maghrib</a:t>
            </a:r>
          </a:p>
          <a:p>
            <a:pPr>
              <a:spcBef>
                <a:spcPts val="14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• Au Maroc, une banque n'a pas le droit de garder des devises étrangères la nuit sans valorisation.</a:t>
            </a:r>
            <a:br/>
            <a:br/>
            <a:r>
              <a:t>• Chaque jour à 15h30, Bank Al-Maghrib publie son fixing officiel : tout doit être recalculé en Dirhams (MAD).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1D48"/>
                </a:solidFill>
                <a:latin typeface="Arial"/>
              </a:defRPr>
            </a:pPr>
            <a:r>
              <a:t>3. Pourquoi Excel ne suffit plus</a:t>
            </a:r>
          </a:p>
          <a:p>
            <a:pPr>
              <a:spcBef>
                <a:spcPts val="14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• Les traders saisissent vite au Front-Office.</a:t>
            </a:r>
            <a:br/>
            <a:br/>
            <a:r>
              <a:t>• Le Back-Office reçoit des confirmations avec des décalages (cours, montants, retards).</a:t>
            </a:r>
            <a:br/>
            <a:br/>
            <a:r>
              <a:t>• Résultat : des pertes financières invisibles sur Excel sans pipeline automatisé.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02. RÉSULTATS VALIDÉS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Le cas de référence : 4 transactions et +79 460 MAD de gain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0" y="411480"/>
            <a:ext cx="1005840" cy="6400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[ Logo UIR 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411480"/>
            <a:ext cx="1005840" cy="6400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[ Logo DXC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2563EB"/>
                </a:solidFill>
                <a:latin typeface="Arial"/>
              </a:defRPr>
            </a:pPr>
            <a:r>
              <a:t>+79 460 MAD</a:t>
            </a:r>
          </a:p>
          <a:p>
            <a:pPr>
              <a:spcBef>
                <a:spcPts val="200"/>
              </a:spcBef>
              <a:defRPr sz="1150" b="1">
                <a:solidFill>
                  <a:srgbClr val="0F172A"/>
                </a:solidFill>
                <a:latin typeface="Arial"/>
              </a:defRPr>
            </a:pPr>
            <a:r>
              <a:t>Total Mark-to-Market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Gain total du portefeuille au fixing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Arial"/>
              </a:defRPr>
            </a:pPr>
            <a:r>
              <a:t>+20 000 MAD</a:t>
            </a:r>
          </a:p>
          <a:p>
            <a:pPr>
              <a:spcBef>
                <a:spcPts val="200"/>
              </a:spcBef>
              <a:defRPr sz="1150" b="1">
                <a:solidFill>
                  <a:srgbClr val="0F172A"/>
                </a:solidFill>
                <a:latin typeface="Arial"/>
              </a:defRPr>
            </a:pPr>
            <a:r>
              <a:t>P&amp;L Réalisé (Cash)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Gain définitivement encaissé (Compte de résultat)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D97706"/>
                </a:solidFill>
                <a:latin typeface="Arial"/>
              </a:defRPr>
            </a:pPr>
            <a:r>
              <a:t>+59 460 MAD</a:t>
            </a:r>
          </a:p>
          <a:p>
            <a:pPr>
              <a:spcBef>
                <a:spcPts val="200"/>
              </a:spcBef>
              <a:defRPr sz="1150" b="1">
                <a:solidFill>
                  <a:srgbClr val="0F172A"/>
                </a:solidFill>
                <a:latin typeface="Arial"/>
              </a:defRPr>
            </a:pPr>
            <a:r>
              <a:t>P&amp;L Latent (Bilan)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Gain potentiel sur positions encore ouvertes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10728655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Détail des 4 transactions du sujet (Validé à 100%)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• Trade 1 (T1) · Achat 1M USD/MAD @ 9.92  [Fixing BAM: 9.9500]</a:t>
            </a:r>
          </a:p>
          <a:p>
            <a:pPr>
              <a:defRPr sz="950">
                <a:solidFill>
                  <a:srgbClr val="2563EB"/>
                </a:solidFill>
                <a:latin typeface="Consolas"/>
              </a:defRPr>
            </a:pPr>
            <a:r>
              <a:t>  Formule : (9.9500 - 9.9200) * 1 000 000 = +30 000 MAD (MTM)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• Trade 2 (T2) · Vente 500k USD/MAD @ 9.96  [Déboucle la moitié de T1]</a:t>
            </a:r>
          </a:p>
          <a:p>
            <a:pPr>
              <a:defRPr sz="950">
                <a:solidFill>
                  <a:srgbClr val="2563EB"/>
                </a:solidFill>
                <a:latin typeface="Consolas"/>
              </a:defRPr>
            </a:pPr>
            <a:r>
              <a:t>  Formule : Réalisé : (9.96 - 9.92) * 500k = +20 000 MAD  |  Reste Latent : +15 000 MAD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• Trade 3 (T3) · Achat 800k EUR/MAD @ 10.77  [Fixing BAM: 10.8000]</a:t>
            </a:r>
          </a:p>
          <a:p>
            <a:pPr>
              <a:defRPr sz="950">
                <a:solidFill>
                  <a:srgbClr val="2563EB"/>
                </a:solidFill>
                <a:latin typeface="Consolas"/>
              </a:defRPr>
            </a:pPr>
            <a:r>
              <a:t>  Formule : (10.8000 - 10.7700) * 800 000 = +24 000 MAD (Latent)</a:t>
            </a:r>
          </a:p>
          <a:p>
            <a:pPr>
              <a:spcBef>
                <a:spcPts val="800"/>
              </a:spcBef>
              <a:defRPr b="1" sz="1050">
                <a:solidFill>
                  <a:srgbClr val="0F172A"/>
                </a:solidFill>
              </a:defRPr>
            </a:pPr>
            <a:r>
              <a:t>• Trade 4 (T4) · Achat 600k EUR/USD @ 1.0820  [Cross synthétique en MAD]</a:t>
            </a:r>
          </a:p>
          <a:p>
            <a:pPr>
              <a:defRPr sz="950">
                <a:solidFill>
                  <a:srgbClr val="2563EB"/>
                </a:solidFill>
                <a:latin typeface="Consolas"/>
              </a:defRPr>
            </a:pPr>
            <a:r>
              <a:t>  Formule : (10.8000 - (1.0820 * 9.9500)) * 600 000 = +20 460 MAD (Latent)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03. RIGUEUR DU CALCUL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Gestion d'inventaire : FIFO vs. CMP et correction du sujet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0" y="411480"/>
            <a:ext cx="1005840" cy="6400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[ Logo UIR 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411480"/>
            <a:ext cx="1005840" cy="6400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[ Logo DXC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Méthode FIFO (Standard Marché / Murex)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Exemple : 2 achats (500k @ 9.91 et 500k @ 9.93) puis vente de 600k @ 9.95.</a:t>
            </a:r>
            <a:br/>
          </a:p>
          <a:p>
            <a:pPr>
              <a:spcBef>
                <a:spcPts val="400"/>
              </a:spcBef>
              <a:defRPr b="1" sz="1100">
                <a:solidFill>
                  <a:srgbClr val="0F172A"/>
                </a:solidFill>
              </a:defRPr>
            </a:pPr>
            <a:r>
              <a:t>1. Le 1er lot (500k @ 9.91) est vendu en premier :</a:t>
            </a:r>
            <a:br/>
            <a:r>
              <a:t>   (9.95 - 9.91) * 500 000 = +20 000 MAD</a:t>
            </a:r>
            <a:br/>
            <a:br/>
            <a:r>
              <a:t>2. Le 2ème lot (100k sur 500k @ 9.93) est entamé :</a:t>
            </a:r>
            <a:br/>
            <a:r>
              <a:t>   (9.95 - 9.93) * 100 000 = +2 000 MAD</a:t>
            </a:r>
            <a:br/>
            <a:br/>
            <a:r>
              <a:t>Gain Réalisé FIFO = +22 000 MAD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Méthode CMP (Norme Comptable) &amp; Audit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Coût Moyen Pondéré (CMP) :</a:t>
            </a:r>
            <a:br/>
            <a:r>
              <a:t>• Coût moyen = ((500k*9.91) + (500k*9.93)) / 1M = 9.9200 MAD</a:t>
            </a:r>
            <a:br/>
            <a:r>
              <a:t>• Gain Réalisé = (9.95 - 9.92) * 600 000 = +18 000 MAD</a:t>
            </a:r>
          </a:p>
          <a:p>
            <a:br/>
            <a:pPr>
              <a:spcBef>
                <a:spcPts val="1200"/>
              </a:spcBef>
              <a:defRPr b="1" sz="1100">
                <a:solidFill>
                  <a:srgbClr val="D97706"/>
                </a:solidFill>
              </a:defRPr>
            </a:pPr>
            <a:r>
              <a:t>AUDIT DU SUJET (Preuve de rigueur) :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Le sujet original contenait une coquille typographique indiquant 21 500 MAD (en écrivant 19 500 + 2 000).</a:t>
            </a:r>
            <a:br/>
            <a:r>
              <a:t>Notre recalcul prouve que le lot 1 rapporte 20 000 MAD (et non 19 500 MAD), confirmant le résultat exact de 22 000 MAD.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04. MODULE CLÉ DE LA SALLE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Réconciliation Front/Back : Détecter les 4 anomalies réelles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0" y="411480"/>
            <a:ext cx="1005840" cy="6400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[ Logo UIR 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411480"/>
            <a:ext cx="1005840" cy="6400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[ Logo DXC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D97706"/>
                </a:solidFill>
              </a:defRPr>
            </a:pPr>
            <a:r>
              <a:t>1. Écart de cours (Rate Slippage) — BMCE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• Le trader a saisi à 10.7950 au Front-Office.</a:t>
            </a:r>
            <a:br/>
            <a:r>
              <a:t>• La confirmation Back-Office est arrivée à 10.7985 (+35 pips).</a:t>
            </a:r>
            <a:br/>
            <a:r>
              <a:t>• Impact : Perte de -2 450 MAD due aux frais de courtage.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11D48"/>
                </a:solidFill>
              </a:defRPr>
            </a:pPr>
            <a:r>
              <a:t>2. Écart de nominal (Plafond de crédit) — Attijariwafa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• Le trader a saisi 1 500 000 USD.</a:t>
            </a:r>
            <a:br/>
            <a:r>
              <a:t>• Seulement 1 400 000 USD ont été réglés par la contrepartie.</a:t>
            </a:r>
            <a:br/>
            <a:r>
              <a:t>• Cause : Plafonnement de la ligne de crédit intra-journalière (-100k USD).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11D48"/>
                </a:solidFill>
              </a:defRPr>
            </a:pPr>
            <a:r>
              <a:t>3. Transaction non confirmée (Ghost Trade) — BNP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• Ordre EUR/USD saisi à 17h15 en fin de journée.</a:t>
            </a:r>
            <a:br/>
            <a:r>
              <a:t>• Aucune confirmation SWIFT reçue du Back-Office avant fermeture.</a:t>
            </a:r>
            <a:br/>
            <a:r>
              <a:t>• Risque : Position ouverte la nuit sans garantie juridique.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563EB"/>
                </a:solidFill>
              </a:defRPr>
            </a:pPr>
            <a:r>
              <a:t>4. Règlement orphelin — Barclays Bank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• Règlement de 300 000 GBP reçu au Back-Office sans ticket trader.</a:t>
            </a:r>
            <a:br/>
            <a:r>
              <a:t>• Notre moteur isole immédiatement ces 4 anomalies et exporte le dossier complet en Excel en un clic.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05. DATA ENGINEERING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L'Architecture technique : Un pipeline en 3 étapes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0" y="411480"/>
            <a:ext cx="1005840" cy="6400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[ Logo UIR 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411480"/>
            <a:ext cx="1005840" cy="6400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[ Logo DXC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563EB"/>
                </a:solidFill>
              </a:defRPr>
            </a:pPr>
            <a:r>
              <a:t>Étape 1 : Ingestion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Fichiers CSV et API en direct.</a:t>
            </a:r>
            <a:br/>
            <a:r>
              <a:t>• Stockage dans PostgreSQL (avec fallback SQLite automatique si Docker est éteint).</a:t>
            </a:r>
            <a:br/>
            <a:r>
              <a:t>• Aucune duplication grâce à l'identifiant unique source_ref.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D97706"/>
                </a:solidFill>
              </a:defRPr>
            </a:pPr>
            <a:r>
              <a:t>Étape 2 : Modèles dbt (SQL)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Transformations en SQL pur.</a:t>
            </a:r>
            <a:br/>
            <a:r>
              <a:t>• Calcul automatique des cours croisés (EUR/USD en MAD).</a:t>
            </a:r>
            <a:br/>
            <a:r>
              <a:t>• Tests automatisés : le pipeline s'arrête si une règle financière est violée.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0B981"/>
                </a:solidFill>
              </a:defRPr>
            </a:pPr>
            <a:r>
              <a:t>Étape 3 : Moteur Python &amp; Airflow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Algorithme FIFO rapide utilisant des deques.</a:t>
            </a:r>
            <a:br/>
            <a:r>
              <a:t>• Orchestration automatique par Airflow chaque jour à 15h35.</a:t>
            </a:r>
            <a:br/>
            <a:r>
              <a:t>• Export Excel et affichage dans le tableau de bord Streamlit.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728655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GARANTIE QUALITÉ : 10 TESTS UNITAIRES AUTOMATISÉS (10/10 PASS EN 0.51s)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Chaque formule financière, chaque calcul FIFO/CMP et chaque cas de réconciliation est testé automatiquement sous pytest avant d'être affiché.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06. APPLICATION &amp; DÉMO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L'Application en direct : Terminal et cours de l'or (&gt; 4 000 $)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0" y="411480"/>
            <a:ext cx="1005840" cy="6400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[ Logo UIR 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411480"/>
            <a:ext cx="1005840" cy="6400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[ Logo DXC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563EB"/>
                </a:solidFill>
              </a:defRPr>
            </a:pPr>
            <a:r>
              <a:t>Les fonctionnalités clés du Dashboard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Bandeau Fixing BAM en direct : Affiche les cours officiels USD/MAD, EUR/MAD et l'indicateur du panier 60/40.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Blotter avec formules visibles : Chaque trade montre le détail exact du calcul en MAD, sans boîte noire.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Simulateur d'ordre pré-trade : Le trader teste l'impact d'un ordre (gain, nominal en MAD) avant de le valider.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Hub de réconciliation : Filtre les anomalies en 1 clic et télécharge le rapport Excel officiel.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Stress-Test Bank Al-Maghrib : Simule l'impact d'un choc de +/- 5% sur la bande de fluctuation du dirham.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D97706"/>
                </a:solidFill>
              </a:defRPr>
            </a:pPr>
            <a:r>
              <a:t>Graphique de l'or : Franchissement des 4 000 $/oz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Dans notre terminal, l'or (XAU/USD) est suivi avec des graphiques en chandeliers réels, moyenne mobile 20 jours et volume.</a:t>
            </a:r>
            <a:br/>
            <a:br/>
            <a:r>
              <a:t>• Comme exigé, l'or a franchi sa résistance historique des 4 000 $ l'once pour s'établir au-dessus de 4 030 $.</a:t>
            </a:r>
            <a:br/>
            <a:br/>
            <a:r>
              <a:t>• Utilité : Actif refuge stratégique utilisé par les trésoreries d'entreprises pour se protéger contre l'inflation et la volatilité des devises.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772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07. CONCLUSION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Bilan du projet, compétences acquises et perspectives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0" y="411480"/>
            <a:ext cx="1005840" cy="6400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[ Logo UIR 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411480"/>
            <a:ext cx="1005840" cy="6400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[ Logo DXC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0B981"/>
                </a:solidFill>
              </a:defRPr>
            </a:pPr>
            <a:r>
              <a:t>Ce que ce projet m'a permis d'accomplir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✔ Maîtrise financière : Compréhension approfondie du fixing Bank Al-Maghrib, du panier 60/40 et de la réévaluation MTM.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✔ Rigueur d'ingénieur : Audit arithmétique de la coquille du sujet (22 000 MAD) et validation de 10 tests unitaires.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✔ Architecture de données complète : Pipeline médaillon dbt + Airflow + base résiliente PostgreSQL/SQLite.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✔ Valeur métier DXC : Remplacement des fichiers Excel manuels par un système auditable et automatisé.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563EB"/>
                </a:solidFill>
              </a:defRPr>
            </a:pPr>
            <a:r>
              <a:t>Perspectives futures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➔ Streaming temps réel : Passer du batch quotidien de 15h35 au streaming tick-par-tick avec Apache Kafka.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➔ Connecteur SWIFT direct : Intégration directe des messages de confirmation bancaire ISO 15022 / 20022.</a:t>
            </a:r>
          </a:p>
          <a:p>
            <a:br/>
            <a:pPr>
              <a:spcBef>
                <a:spcPts val="2400"/>
              </a:spcBef>
              <a:defRPr b="1" sz="1500">
                <a:solidFill>
                  <a:srgbClr val="0F172A"/>
                </a:solidFill>
              </a:defRPr>
            </a:pPr>
            <a:r>
              <a:t>Merci pour votre attention.</a:t>
            </a:r>
            <a:br/>
            <a:r>
              <a:t>Je suis à votre disposition pour vos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